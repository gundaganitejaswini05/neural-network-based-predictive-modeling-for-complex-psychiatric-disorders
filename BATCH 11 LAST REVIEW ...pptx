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72" r:id="rId2"/>
    <p:sldId id="258" r:id="rId3"/>
    <p:sldId id="269" r:id="rId4"/>
    <p:sldId id="283" r:id="rId5"/>
    <p:sldId id="373" r:id="rId6"/>
    <p:sldId id="263" r:id="rId7"/>
    <p:sldId id="275" r:id="rId8"/>
    <p:sldId id="285" r:id="rId9"/>
    <p:sldId id="374" r:id="rId10"/>
    <p:sldId id="276" r:id="rId11"/>
    <p:sldId id="277" r:id="rId12"/>
    <p:sldId id="280" r:id="rId13"/>
    <p:sldId id="286" r:id="rId14"/>
    <p:sldId id="376" r:id="rId15"/>
    <p:sldId id="375" r:id="rId16"/>
    <p:sldId id="377" r:id="rId17"/>
    <p:sldId id="378" r:id="rId18"/>
    <p:sldId id="379" r:id="rId19"/>
    <p:sldId id="380" r:id="rId20"/>
    <p:sldId id="381" r:id="rId21"/>
    <p:sldId id="382" r:id="rId22"/>
    <p:sldId id="384" r:id="rId23"/>
    <p:sldId id="385" r:id="rId24"/>
    <p:sldId id="386" r:id="rId25"/>
    <p:sldId id="387" r:id="rId26"/>
    <p:sldId id="391" r:id="rId27"/>
    <p:sldId id="390" r:id="rId28"/>
    <p:sldId id="392" r:id="rId29"/>
    <p:sldId id="27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8FFCC4-4845-48A8-8D4A-088412D8CA35}" v="7" dt="2026-03-24T05:50:07.7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VITHA LALAPUDI" userId="fcdfcf87fac8085f" providerId="LiveId" clId="{F2DD93D3-55F0-4296-94EB-32CA1117638B}"/>
    <pc:docChg chg="undo custSel modSld">
      <pc:chgData name="BAVITHA LALAPUDI" userId="fcdfcf87fac8085f" providerId="LiveId" clId="{F2DD93D3-55F0-4296-94EB-32CA1117638B}" dt="2026-03-24T05:50:38.103" v="58" actId="14100"/>
      <pc:docMkLst>
        <pc:docMk/>
      </pc:docMkLst>
      <pc:sldChg chg="modSp mod">
        <pc:chgData name="BAVITHA LALAPUDI" userId="fcdfcf87fac8085f" providerId="LiveId" clId="{F2DD93D3-55F0-4296-94EB-32CA1117638B}" dt="2026-03-24T05:45:03.748" v="7" actId="20577"/>
        <pc:sldMkLst>
          <pc:docMk/>
          <pc:sldMk cId="0" sldId="285"/>
        </pc:sldMkLst>
        <pc:spChg chg="mod">
          <ac:chgData name="BAVITHA LALAPUDI" userId="fcdfcf87fac8085f" providerId="LiveId" clId="{F2DD93D3-55F0-4296-94EB-32CA1117638B}" dt="2026-03-24T05:45:03.748" v="7" actId="20577"/>
          <ac:spMkLst>
            <pc:docMk/>
            <pc:sldMk cId="0" sldId="285"/>
            <ac:spMk id="4" creationId="{00000000-0000-0000-0000-000000000000}"/>
          </ac:spMkLst>
        </pc:spChg>
      </pc:sldChg>
      <pc:sldChg chg="addSp modSp mod">
        <pc:chgData name="BAVITHA LALAPUDI" userId="fcdfcf87fac8085f" providerId="LiveId" clId="{F2DD93D3-55F0-4296-94EB-32CA1117638B}" dt="2026-03-24T05:47:31.015" v="22" actId="404"/>
        <pc:sldMkLst>
          <pc:docMk/>
          <pc:sldMk cId="0" sldId="384"/>
        </pc:sldMkLst>
        <pc:spChg chg="add mod">
          <ac:chgData name="BAVITHA LALAPUDI" userId="fcdfcf87fac8085f" providerId="LiveId" clId="{F2DD93D3-55F0-4296-94EB-32CA1117638B}" dt="2026-03-24T05:47:31.015" v="22" actId="404"/>
          <ac:spMkLst>
            <pc:docMk/>
            <pc:sldMk cId="0" sldId="384"/>
            <ac:spMk id="3" creationId="{37B6700E-F397-7D7F-3371-FCD1FA3689D8}"/>
          </ac:spMkLst>
        </pc:spChg>
        <pc:spChg chg="mod">
          <ac:chgData name="BAVITHA LALAPUDI" userId="fcdfcf87fac8085f" providerId="LiveId" clId="{F2DD93D3-55F0-4296-94EB-32CA1117638B}" dt="2026-03-24T05:46:50.666" v="9" actId="1076"/>
          <ac:spMkLst>
            <pc:docMk/>
            <pc:sldMk cId="0" sldId="384"/>
            <ac:spMk id="4" creationId="{00000000-0000-0000-0000-000000000000}"/>
          </ac:spMkLst>
        </pc:spChg>
        <pc:spChg chg="mod">
          <ac:chgData name="BAVITHA LALAPUDI" userId="fcdfcf87fac8085f" providerId="LiveId" clId="{F2DD93D3-55F0-4296-94EB-32CA1117638B}" dt="2026-03-24T05:46:58.174" v="11" actId="1076"/>
          <ac:spMkLst>
            <pc:docMk/>
            <pc:sldMk cId="0" sldId="384"/>
            <ac:spMk id="8" creationId="{00000000-0000-0000-0000-000000000000}"/>
          </ac:spMkLst>
        </pc:spChg>
        <pc:grpChg chg="mod">
          <ac:chgData name="BAVITHA LALAPUDI" userId="fcdfcf87fac8085f" providerId="LiveId" clId="{F2DD93D3-55F0-4296-94EB-32CA1117638B}" dt="2026-03-24T05:46:45.846" v="8" actId="1076"/>
          <ac:grpSpMkLst>
            <pc:docMk/>
            <pc:sldMk cId="0" sldId="384"/>
            <ac:grpSpMk id="5" creationId="{00000000-0000-0000-0000-000000000000}"/>
          </ac:grpSpMkLst>
        </pc:grpChg>
        <pc:picChg chg="mod">
          <ac:chgData name="BAVITHA LALAPUDI" userId="fcdfcf87fac8085f" providerId="LiveId" clId="{F2DD93D3-55F0-4296-94EB-32CA1117638B}" dt="2026-03-24T05:46:54.327" v="10" actId="1076"/>
          <ac:picMkLst>
            <pc:docMk/>
            <pc:sldMk cId="0" sldId="384"/>
            <ac:picMk id="2" creationId="{00000000-0000-0000-0000-000000000000}"/>
          </ac:picMkLst>
        </pc:picChg>
      </pc:sldChg>
      <pc:sldChg chg="addSp modSp mod">
        <pc:chgData name="BAVITHA LALAPUDI" userId="fcdfcf87fac8085f" providerId="LiveId" clId="{F2DD93D3-55F0-4296-94EB-32CA1117638B}" dt="2026-03-24T05:49:35.418" v="47" actId="14100"/>
        <pc:sldMkLst>
          <pc:docMk/>
          <pc:sldMk cId="0" sldId="385"/>
        </pc:sldMkLst>
        <pc:spChg chg="mod">
          <ac:chgData name="BAVITHA LALAPUDI" userId="fcdfcf87fac8085f" providerId="LiveId" clId="{F2DD93D3-55F0-4296-94EB-32CA1117638B}" dt="2026-03-24T05:47:50.571" v="23" actId="1076"/>
          <ac:spMkLst>
            <pc:docMk/>
            <pc:sldMk cId="0" sldId="385"/>
            <ac:spMk id="2" creationId="{00000000-0000-0000-0000-000000000000}"/>
          </ac:spMkLst>
        </pc:spChg>
        <pc:spChg chg="add mod">
          <ac:chgData name="BAVITHA LALAPUDI" userId="fcdfcf87fac8085f" providerId="LiveId" clId="{F2DD93D3-55F0-4296-94EB-32CA1117638B}" dt="2026-03-24T05:49:35.418" v="47" actId="14100"/>
          <ac:spMkLst>
            <pc:docMk/>
            <pc:sldMk cId="0" sldId="385"/>
            <ac:spMk id="5" creationId="{92405350-3787-6D3B-3384-96F7A242A9C2}"/>
          </ac:spMkLst>
        </pc:spChg>
        <pc:picChg chg="mod">
          <ac:chgData name="BAVITHA LALAPUDI" userId="fcdfcf87fac8085f" providerId="LiveId" clId="{F2DD93D3-55F0-4296-94EB-32CA1117638B}" dt="2026-03-24T05:47:54.783" v="24" actId="1076"/>
          <ac:picMkLst>
            <pc:docMk/>
            <pc:sldMk cId="0" sldId="385"/>
            <ac:picMk id="3" creationId="{00000000-0000-0000-0000-000000000000}"/>
          </ac:picMkLst>
        </pc:picChg>
      </pc:sldChg>
      <pc:sldChg chg="addSp modSp mod">
        <pc:chgData name="BAVITHA LALAPUDI" userId="fcdfcf87fac8085f" providerId="LiveId" clId="{F2DD93D3-55F0-4296-94EB-32CA1117638B}" dt="2026-03-24T05:50:25.818" v="57" actId="14100"/>
        <pc:sldMkLst>
          <pc:docMk/>
          <pc:sldMk cId="0" sldId="386"/>
        </pc:sldMkLst>
        <pc:spChg chg="add mod">
          <ac:chgData name="BAVITHA LALAPUDI" userId="fcdfcf87fac8085f" providerId="LiveId" clId="{F2DD93D3-55F0-4296-94EB-32CA1117638B}" dt="2026-03-24T05:50:25.818" v="57" actId="14100"/>
          <ac:spMkLst>
            <pc:docMk/>
            <pc:sldMk cId="0" sldId="386"/>
            <ac:spMk id="5" creationId="{D49069C9-8203-2387-66BA-763A2FE1106F}"/>
          </ac:spMkLst>
        </pc:spChg>
        <pc:picChg chg="mod">
          <ac:chgData name="BAVITHA LALAPUDI" userId="fcdfcf87fac8085f" providerId="LiveId" clId="{F2DD93D3-55F0-4296-94EB-32CA1117638B}" dt="2026-03-24T05:49:47.365" v="49" actId="1076"/>
          <ac:picMkLst>
            <pc:docMk/>
            <pc:sldMk cId="0" sldId="386"/>
            <ac:picMk id="3" creationId="{00000000-0000-0000-0000-000000000000}"/>
          </ac:picMkLst>
        </pc:picChg>
      </pc:sldChg>
      <pc:sldChg chg="modSp mod">
        <pc:chgData name="BAVITHA LALAPUDI" userId="fcdfcf87fac8085f" providerId="LiveId" clId="{F2DD93D3-55F0-4296-94EB-32CA1117638B}" dt="2026-03-24T05:50:38.103" v="58" actId="14100"/>
        <pc:sldMkLst>
          <pc:docMk/>
          <pc:sldMk cId="0" sldId="387"/>
        </pc:sldMkLst>
        <pc:spChg chg="mod">
          <ac:chgData name="BAVITHA LALAPUDI" userId="fcdfcf87fac8085f" providerId="LiveId" clId="{F2DD93D3-55F0-4296-94EB-32CA1117638B}" dt="2026-03-24T05:50:38.103" v="58" actId="14100"/>
          <ac:spMkLst>
            <pc:docMk/>
            <pc:sldMk cId="0" sldId="387"/>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57E4DC-291E-49F1-A238-889CC58A8D9B}"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757E4DC-291E-49F1-A238-889CC58A8D9B}"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757E4DC-291E-49F1-A238-889CC58A8D9B}"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757E4DC-291E-49F1-A238-889CC58A8D9B}" type="datetimeFigureOut">
              <a:rPr lang="en-IN" smtClean="0"/>
              <a:t>24-03-2026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57E4DC-291E-49F1-A238-889CC58A8D9B}" type="datetimeFigureOut">
              <a:rPr lang="en-IN" smtClean="0"/>
              <a:t>24-03-2026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57E4DC-291E-49F1-A238-889CC58A8D9B}"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57E4DC-291E-49F1-A238-889CC58A8D9B}"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hoto 4">
    <p:spTree>
      <p:nvGrpSpPr>
        <p:cNvPr id="1" name=""/>
        <p:cNvGrpSpPr/>
        <p:nvPr/>
      </p:nvGrpSpPr>
      <p:grpSpPr>
        <a:xfrm>
          <a:off x="0" y="0"/>
          <a:ext cx="0" cy="0"/>
          <a:chOff x="0" y="0"/>
          <a:chExt cx="0" cy="0"/>
        </a:xfrm>
      </p:grpSpPr>
      <p:sp>
        <p:nvSpPr>
          <p:cNvPr id="5" name="Title 1"/>
          <p:cNvSpPr>
            <a:spLocks noGrp="1"/>
          </p:cNvSpPr>
          <p:nvPr>
            <p:ph type="title"/>
          </p:nvPr>
        </p:nvSpPr>
        <p:spPr>
          <a:xfrm>
            <a:off x="844000" y="825622"/>
            <a:ext cx="5906997" cy="1928790"/>
          </a:xfrm>
        </p:spPr>
        <p:txBody>
          <a:bodyPr lIns="0" tIns="0" rIns="0" bIns="0" anchor="b">
            <a:noAutofit/>
          </a:bodyPr>
          <a:lstStyle>
            <a:lvl1pPr>
              <a:defRPr sz="3600" b="0" baseline="0"/>
            </a:lvl1pPr>
          </a:lstStyle>
          <a:p>
            <a:r>
              <a:rPr lang="en-US"/>
              <a:t>Click to edit Master title style</a:t>
            </a:r>
          </a:p>
        </p:txBody>
      </p:sp>
      <p:sp>
        <p:nvSpPr>
          <p:cNvPr id="2" name="Content Placeholder 7"/>
          <p:cNvSpPr>
            <a:spLocks noGrp="1"/>
          </p:cNvSpPr>
          <p:nvPr>
            <p:ph sz="quarter" idx="22"/>
          </p:nvPr>
        </p:nvSpPr>
        <p:spPr>
          <a:xfrm>
            <a:off x="844001" y="2868150"/>
            <a:ext cx="5906996"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p:cNvSpPr>
            <a:spLocks noGrp="1"/>
          </p:cNvSpPr>
          <p:nvPr>
            <p:ph type="pic" sz="quarter" idx="18"/>
          </p:nvPr>
        </p:nvSpPr>
        <p:spPr>
          <a:xfrm>
            <a:off x="7300452" y="831918"/>
            <a:ext cx="4006875" cy="5194161"/>
          </a:xfrm>
        </p:spPr>
        <p:txBody>
          <a:bodyPr/>
          <a:lstStyle/>
          <a:p>
            <a:endParaRPr lang="en-US"/>
          </a:p>
        </p:txBody>
      </p:sp>
      <p:sp>
        <p:nvSpPr>
          <p:cNvPr id="13" name="Freeform 17"/>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4" name="Freeform 17"/>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5" name="Freeform 10"/>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p:cNvSpPr>
            <a:spLocks noGrp="1"/>
          </p:cNvSpPr>
          <p:nvPr>
            <p:ph type="dt" sz="half" idx="19"/>
          </p:nvPr>
        </p:nvSpPr>
        <p:spPr/>
        <p:txBody>
          <a:bodyPr/>
          <a:lstStyle/>
          <a:p>
            <a:r>
              <a:rPr lang="en-US" altLang="zh-CN"/>
              <a:t>03/13/2025</a:t>
            </a:r>
          </a:p>
        </p:txBody>
      </p:sp>
      <p:sp>
        <p:nvSpPr>
          <p:cNvPr id="9" name="Footer Placeholder 8"/>
          <p:cNvSpPr>
            <a:spLocks noGrp="1"/>
          </p:cNvSpPr>
          <p:nvPr>
            <p:ph type="ftr" sz="quarter" idx="20"/>
          </p:nvPr>
        </p:nvSpPr>
        <p:spPr/>
        <p:txBody>
          <a:bodyPr/>
          <a:lstStyle/>
          <a:p>
            <a:r>
              <a:rPr lang="en-US" altLang="zh-CN"/>
              <a:t>Sample Footer Text</a:t>
            </a:r>
          </a:p>
        </p:txBody>
      </p:sp>
      <p:sp>
        <p:nvSpPr>
          <p:cNvPr id="10" name="Slide Number Placeholder 9"/>
          <p:cNvSpPr>
            <a:spLocks noGrp="1"/>
          </p:cNvSpPr>
          <p:nvPr>
            <p:ph type="sldNum" sz="half" idx="21"/>
          </p:nvPr>
        </p:nvSpPr>
        <p:spPr/>
        <p:txBody>
          <a:bodyPr/>
          <a:lstStyle/>
          <a:p>
            <a:fld id="{64D095EA-18D5-4754-B677-EAAE710458D2}" type="slidenum">
              <a:rPr lang="en-US" altLang="zh-CN"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7E4DC-291E-49F1-A238-889CC58A8D9B}" type="datetimeFigureOut">
              <a:rPr lang="en-IN" smtClean="0"/>
              <a:t>24-03-2026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A45EC-DE58-4A93-9691-1D6501F2FAB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ogo with a flower&#10;&#10;AI-generated content may be incorrect."/>
          <p:cNvPicPr>
            <a:picLocks noChangeAspect="1"/>
          </p:cNvPicPr>
          <p:nvPr/>
        </p:nvPicPr>
        <p:blipFill>
          <a:blip r:embed="rId2"/>
          <a:stretch>
            <a:fillRect/>
          </a:stretch>
        </p:blipFill>
        <p:spPr>
          <a:xfrm>
            <a:off x="2570" y="19126"/>
            <a:ext cx="1918002" cy="1449463"/>
          </a:xfrm>
          <a:prstGeom prst="rect">
            <a:avLst/>
          </a:prstGeom>
        </p:spPr>
      </p:pic>
      <p:pic>
        <p:nvPicPr>
          <p:cNvPr id="7" name="Picture 6" descr="A close-up of a seal&#10;&#10;AI-generated content may be incorrect."/>
          <p:cNvPicPr>
            <a:picLocks noChangeAspect="1"/>
          </p:cNvPicPr>
          <p:nvPr/>
        </p:nvPicPr>
        <p:blipFill>
          <a:blip r:embed="rId3"/>
          <a:stretch>
            <a:fillRect/>
          </a:stretch>
        </p:blipFill>
        <p:spPr>
          <a:xfrm>
            <a:off x="10379982" y="-4233"/>
            <a:ext cx="1809750" cy="1447800"/>
          </a:xfrm>
          <a:prstGeom prst="rect">
            <a:avLst/>
          </a:prstGeom>
        </p:spPr>
      </p:pic>
      <p:sp>
        <p:nvSpPr>
          <p:cNvPr id="8" name="TextBox 7"/>
          <p:cNvSpPr txBox="1"/>
          <p:nvPr/>
        </p:nvSpPr>
        <p:spPr>
          <a:xfrm>
            <a:off x="1942494" y="237065"/>
            <a:ext cx="8452151"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600" b="1" dirty="0">
                <a:solidFill>
                  <a:srgbClr val="FF0000"/>
                </a:solidFill>
                <a:latin typeface="Times New Roman" panose="02020603050405020304"/>
                <a:cs typeface="Times New Roman" panose="02020603050405020304"/>
              </a:rPr>
              <a:t>CMR TECHNICAL CAMPUS </a:t>
            </a:r>
            <a:endParaRPr lang="en-US" dirty="0">
              <a:solidFill>
                <a:srgbClr val="FF0000"/>
              </a:solidFill>
            </a:endParaRPr>
          </a:p>
        </p:txBody>
      </p:sp>
      <p:sp>
        <p:nvSpPr>
          <p:cNvPr id="14" name="TextBox 13"/>
          <p:cNvSpPr txBox="1"/>
          <p:nvPr/>
        </p:nvSpPr>
        <p:spPr>
          <a:xfrm>
            <a:off x="-4837" y="720876"/>
            <a:ext cx="12201674" cy="150329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200" b="1" dirty="0">
                <a:solidFill>
                  <a:srgbClr val="C00000"/>
                </a:solidFill>
                <a:latin typeface="Times New Roman" panose="02020603050405020304"/>
                <a:cs typeface="Times New Roman" panose="02020603050405020304"/>
              </a:rPr>
              <a:t>UGC AUTONOMOUS</a:t>
            </a:r>
            <a:r>
              <a:rPr lang="en-US" sz="2000" b="1" dirty="0">
                <a:solidFill>
                  <a:srgbClr val="C00000"/>
                </a:solidFill>
                <a:latin typeface="Times New Roman" panose="02020603050405020304"/>
                <a:cs typeface="Times New Roman" panose="02020603050405020304"/>
              </a:rPr>
              <a:t> </a:t>
            </a:r>
          </a:p>
          <a:p>
            <a:pPr algn="ctr"/>
            <a:r>
              <a:rPr lang="en-US" b="1" dirty="0">
                <a:latin typeface="Times New Roman" panose="02020603050405020304"/>
                <a:cs typeface="Times New Roman" panose="02020603050405020304"/>
              </a:rPr>
              <a:t>Accredited by NBA &amp; NAAC with A Grade </a:t>
            </a:r>
          </a:p>
          <a:p>
            <a:pPr algn="ctr"/>
            <a:r>
              <a:rPr lang="en-US" b="1" dirty="0">
                <a:latin typeface="Times New Roman" panose="02020603050405020304"/>
                <a:cs typeface="Times New Roman" panose="02020603050405020304"/>
              </a:rPr>
              <a:t>Approved by AICTE, New Delhi and Affiliated to JNTU, Hyderabad</a:t>
            </a:r>
            <a:r>
              <a:rPr lang="en-US" sz="2000" b="1" dirty="0">
                <a:latin typeface="Times New Roman" panose="02020603050405020304"/>
                <a:cs typeface="Times New Roman" panose="02020603050405020304"/>
              </a:rPr>
              <a:t> </a:t>
            </a:r>
          </a:p>
          <a:p>
            <a:pPr algn="ctr">
              <a:lnSpc>
                <a:spcPct val="150000"/>
              </a:lnSpc>
            </a:pPr>
            <a:r>
              <a:rPr lang="en-US" sz="2400" b="1" u="sng" dirty="0">
                <a:solidFill>
                  <a:srgbClr val="00B0F0"/>
                </a:solidFill>
                <a:latin typeface="Times New Roman" panose="02020603050405020304"/>
                <a:cs typeface="Times New Roman" panose="02020603050405020304"/>
              </a:rPr>
              <a:t>Department of Information Technology</a:t>
            </a:r>
          </a:p>
        </p:txBody>
      </p:sp>
      <p:sp>
        <p:nvSpPr>
          <p:cNvPr id="3" name="TextBox 2"/>
          <p:cNvSpPr txBox="1"/>
          <p:nvPr/>
        </p:nvSpPr>
        <p:spPr>
          <a:xfrm>
            <a:off x="717805" y="2993614"/>
            <a:ext cx="11910410" cy="188769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200" b="1" dirty="0">
                <a:latin typeface="Times New Roman" panose="02020603050405020304"/>
                <a:cs typeface="Times New Roman" panose="02020603050405020304"/>
              </a:rPr>
              <a:t>Project Title </a:t>
            </a:r>
            <a:r>
              <a:rPr lang="en-US" sz="2200" dirty="0">
                <a:latin typeface="Times New Roman" panose="02020603050405020304"/>
                <a:cs typeface="Times New Roman" panose="02020603050405020304"/>
              </a:rPr>
              <a:t>: </a:t>
            </a:r>
            <a:r>
              <a:rPr lang="en-US" altLang="en-US" sz="2200" dirty="0">
                <a:latin typeface="Times New Roman" panose="02020603050405020304" pitchFamily="18" charset="0"/>
                <a:cs typeface="Times New Roman" panose="02020603050405020304" pitchFamily="18" charset="0"/>
              </a:rPr>
              <a:t>Neural Network-Based Predictive Modeling for Complex Psychiatric Disorder               Identification using EEG Features</a:t>
            </a:r>
          </a:p>
          <a:p>
            <a:pPr>
              <a:spcAft>
                <a:spcPts val="800"/>
              </a:spcAft>
            </a:pPr>
            <a:br>
              <a:rPr lang="en-GB" sz="2200" dirty="0"/>
            </a:br>
            <a:endParaRPr lang="en-US" sz="2200" dirty="0">
              <a:latin typeface="Times New Roman" panose="02020603050405020304"/>
              <a:cs typeface="Times New Roman" panose="02020603050405020304"/>
            </a:endParaRPr>
          </a:p>
          <a:p>
            <a:pPr rtl="0">
              <a:spcBef>
                <a:spcPts val="0"/>
              </a:spcBef>
              <a:spcAft>
                <a:spcPts val="800"/>
              </a:spcAft>
            </a:pPr>
            <a:r>
              <a:rPr lang="en-US" sz="2200" b="1" dirty="0">
                <a:latin typeface="Times New Roman" panose="02020603050405020304"/>
                <a:cs typeface="Times New Roman" panose="02020603050405020304"/>
              </a:rPr>
              <a:t> </a:t>
            </a:r>
          </a:p>
        </p:txBody>
      </p:sp>
      <p:sp>
        <p:nvSpPr>
          <p:cNvPr id="4" name="TextBox 3"/>
          <p:cNvSpPr txBox="1"/>
          <p:nvPr/>
        </p:nvSpPr>
        <p:spPr>
          <a:xfrm>
            <a:off x="255105" y="4373478"/>
            <a:ext cx="430107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solidFill>
                  <a:srgbClr val="00B0F0"/>
                </a:solidFill>
                <a:latin typeface="Times New Roman" panose="02020603050405020304"/>
                <a:cs typeface="Times New Roman" panose="02020603050405020304"/>
              </a:rPr>
              <a:t>Project Supervisor :</a:t>
            </a:r>
          </a:p>
          <a:p>
            <a:r>
              <a:rPr lang="en-US" sz="2000" b="1" dirty="0">
                <a:solidFill>
                  <a:schemeClr val="accent1">
                    <a:lumMod val="75000"/>
                  </a:schemeClr>
                </a:solidFill>
                <a:latin typeface="Times New Roman" panose="02020603050405020304"/>
                <a:cs typeface="Times New Roman" panose="02020603050405020304"/>
              </a:rPr>
              <a:t>Name</a:t>
            </a:r>
            <a:r>
              <a:rPr lang="en-US" sz="2000" b="1" dirty="0">
                <a:solidFill>
                  <a:srgbClr val="00B0F0"/>
                </a:solidFill>
                <a:latin typeface="Times New Roman" panose="02020603050405020304"/>
                <a:cs typeface="Times New Roman" panose="02020603050405020304"/>
              </a:rPr>
              <a:t> : </a:t>
            </a:r>
            <a:r>
              <a:rPr lang="en-US" sz="2000" dirty="0">
                <a:solidFill>
                  <a:schemeClr val="tx1">
                    <a:lumMod val="95000"/>
                    <a:lumOff val="5000"/>
                  </a:schemeClr>
                </a:solidFill>
                <a:latin typeface="Times New Roman" panose="02020603050405020304"/>
                <a:cs typeface="Times New Roman" panose="02020603050405020304"/>
              </a:rPr>
              <a:t>V. SRI SUMA</a:t>
            </a:r>
          </a:p>
          <a:p>
            <a:r>
              <a:rPr lang="en-US" sz="2000" b="1" dirty="0">
                <a:solidFill>
                  <a:schemeClr val="accent1">
                    <a:lumMod val="75000"/>
                  </a:schemeClr>
                </a:solidFill>
                <a:latin typeface="Times New Roman" panose="02020603050405020304"/>
                <a:ea typeface="+mn-lt"/>
                <a:cs typeface="+mn-lt"/>
              </a:rPr>
              <a:t>Designation</a:t>
            </a:r>
            <a:r>
              <a:rPr lang="en-US" sz="2000" dirty="0">
                <a:solidFill>
                  <a:srgbClr val="00B0F0"/>
                </a:solidFill>
                <a:latin typeface="Times New Roman" panose="02020603050405020304"/>
                <a:ea typeface="+mn-lt"/>
                <a:cs typeface="+mn-lt"/>
              </a:rPr>
              <a:t>: </a:t>
            </a:r>
            <a:r>
              <a:rPr lang="en-US" sz="2000" dirty="0">
                <a:solidFill>
                  <a:srgbClr val="0070C0"/>
                </a:solidFill>
                <a:latin typeface="Times New Roman" panose="02020603050405020304"/>
                <a:ea typeface="+mn-lt"/>
                <a:cs typeface="+mn-lt"/>
              </a:rPr>
              <a:t>Assistant Professor</a:t>
            </a:r>
            <a:endParaRPr lang="en-US" sz="2000" dirty="0">
              <a:solidFill>
                <a:srgbClr val="0070C0"/>
              </a:solidFill>
              <a:latin typeface="Times New Roman" panose="02020603050405020304"/>
              <a:cs typeface="Arial" panose="020B0604020202020204"/>
            </a:endParaRPr>
          </a:p>
        </p:txBody>
      </p:sp>
      <p:sp>
        <p:nvSpPr>
          <p:cNvPr id="5" name="TextBox 4"/>
          <p:cNvSpPr txBox="1"/>
          <p:nvPr/>
        </p:nvSpPr>
        <p:spPr>
          <a:xfrm>
            <a:off x="5416826" y="4308577"/>
            <a:ext cx="652006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sz="2000" b="1" dirty="0">
                <a:solidFill>
                  <a:srgbClr val="00B0F0"/>
                </a:solidFill>
                <a:latin typeface="Times New Roman" panose="02020603050405020304"/>
                <a:cs typeface="Arial" panose="020B0604020202020204"/>
              </a:rPr>
              <a:t>Presented By:</a:t>
            </a:r>
          </a:p>
          <a:p>
            <a:pPr algn="just"/>
            <a:r>
              <a:rPr lang="en-US" sz="2000" b="1" dirty="0">
                <a:solidFill>
                  <a:schemeClr val="tx1">
                    <a:lumMod val="95000"/>
                    <a:lumOff val="5000"/>
                  </a:schemeClr>
                </a:solidFill>
                <a:latin typeface="Times New Roman" panose="02020603050405020304"/>
                <a:cs typeface="Arial" panose="020B0604020202020204"/>
              </a:rPr>
              <a:t>Batch No : 11</a:t>
            </a:r>
          </a:p>
          <a:p>
            <a:pPr algn="just"/>
            <a:r>
              <a:rPr lang="en-US" sz="2000" dirty="0">
                <a:latin typeface="Times New Roman" panose="02020603050405020304"/>
                <a:cs typeface="Arial" panose="020B0604020202020204"/>
              </a:rPr>
              <a:t>1. H. No: 227R1A1292 	Name: G. Tejaswini</a:t>
            </a:r>
          </a:p>
          <a:p>
            <a:pPr algn="just"/>
            <a:r>
              <a:rPr lang="en-US" sz="2000" dirty="0">
                <a:latin typeface="Times New Roman" panose="02020603050405020304"/>
                <a:cs typeface="Arial" panose="020B0604020202020204"/>
              </a:rPr>
              <a:t>2. H. No: 227R1A12B1 	Name: M. Rithesh </a:t>
            </a:r>
            <a:r>
              <a:rPr lang="en-IN" sz="2000" dirty="0">
                <a:latin typeface="Times New Roman" panose="02020603050405020304"/>
                <a:cs typeface="Arial" panose="020B0604020202020204"/>
              </a:rPr>
              <a:t>Pavan </a:t>
            </a:r>
            <a:endParaRPr lang="en-US" sz="2000" dirty="0">
              <a:latin typeface="Times New Roman" panose="02020603050405020304"/>
              <a:cs typeface="Arial" panose="020B0604020202020204"/>
            </a:endParaRPr>
          </a:p>
          <a:p>
            <a:pPr algn="just"/>
            <a:r>
              <a:rPr lang="en-US" sz="2000" dirty="0">
                <a:latin typeface="Times New Roman" panose="02020603050405020304"/>
                <a:cs typeface="Arial" panose="020B0604020202020204"/>
              </a:rPr>
              <a:t>3. H. No: 227R1A1267 	Name: A. Hari Vardhan</a:t>
            </a:r>
          </a:p>
          <a:p>
            <a:pPr algn="just"/>
            <a:endParaRPr lang="en-US" sz="2000" dirty="0">
              <a:latin typeface="Times New Roman" panose="02020603050405020304"/>
              <a:cs typeface="Arial" panose="020B0604020202020204"/>
            </a:endParaRPr>
          </a:p>
        </p:txBody>
      </p:sp>
      <p:sp>
        <p:nvSpPr>
          <p:cNvPr id="2" name="TextBox 1"/>
          <p:cNvSpPr txBox="1"/>
          <p:nvPr/>
        </p:nvSpPr>
        <p:spPr>
          <a:xfrm>
            <a:off x="3854726" y="2224173"/>
            <a:ext cx="4482548" cy="769441"/>
          </a:xfrm>
          <a:prstGeom prst="rect">
            <a:avLst/>
          </a:prstGeom>
          <a:noFill/>
        </p:spPr>
        <p:txBody>
          <a:bodyPr wrap="square" rtlCol="0">
            <a:spAutoFit/>
          </a:bodyPr>
          <a:lstStyle/>
          <a:p>
            <a:pPr algn="ctr"/>
            <a:r>
              <a:rPr lang="en-IN" sz="2200" b="1" dirty="0">
                <a:latin typeface="Times New Roman" panose="02020603050405020304" pitchFamily="18" charset="0"/>
                <a:cs typeface="Times New Roman" panose="02020603050405020304" pitchFamily="18" charset="0"/>
              </a:rPr>
              <a:t>Major Project stage -2</a:t>
            </a:r>
          </a:p>
          <a:p>
            <a:pPr algn="ctr"/>
            <a:r>
              <a:rPr lang="en-IN" sz="2200" b="1" dirty="0">
                <a:latin typeface="Times New Roman" panose="02020603050405020304" pitchFamily="18" charset="0"/>
                <a:cs typeface="Times New Roman" panose="02020603050405020304" pitchFamily="18" charset="0"/>
              </a:rPr>
              <a:t>Review-2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334568" y="365675"/>
            <a:ext cx="5339984" cy="896197"/>
            <a:chOff x="0" y="-19050"/>
            <a:chExt cx="2109623" cy="4937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19050"/>
              <a:ext cx="2109623" cy="493798"/>
            </a:xfrm>
            <a:prstGeom prst="rect">
              <a:avLst/>
            </a:prstGeom>
            <a:grpFill/>
          </p:spPr>
          <p:txBody>
            <a:bodyPr lIns="33867" tIns="33867" rIns="33867" bIns="33867" rtlCol="0" anchor="ctr"/>
            <a:lstStyle/>
            <a:p>
              <a:pPr algn="ctr">
                <a:lnSpc>
                  <a:spcPts val="1775"/>
                </a:lnSpc>
                <a:spcBef>
                  <a:spcPct val="0"/>
                </a:spcBef>
              </a:pPr>
              <a:endParaRPr sz="1200" dirty="0"/>
            </a:p>
          </p:txBody>
        </p:sp>
      </p:grpSp>
      <p:sp>
        <p:nvSpPr>
          <p:cNvPr id="11" name="TextBox 11"/>
          <p:cNvSpPr txBox="1"/>
          <p:nvPr/>
        </p:nvSpPr>
        <p:spPr>
          <a:xfrm>
            <a:off x="2837124" y="301667"/>
            <a:ext cx="6133705" cy="692497"/>
          </a:xfrm>
          <a:prstGeom prst="rect">
            <a:avLst/>
          </a:prstGeom>
        </p:spPr>
        <p:txBody>
          <a:bodyPr lIns="0" tIns="0" rIns="0" bIns="0" rtlCol="0" anchor="t">
            <a:spAutoFit/>
          </a:bodyPr>
          <a:lstStyle/>
          <a:p>
            <a:pPr algn="ctr">
              <a:lnSpc>
                <a:spcPts val="6165"/>
              </a:lnSpc>
            </a:pPr>
            <a:r>
              <a:rPr lang="en-US" sz="3200" dirty="0">
                <a:solidFill>
                  <a:srgbClr val="000000"/>
                </a:solidFill>
                <a:latin typeface="Times New Roman Bold" panose="02030802070405020303"/>
              </a:rPr>
              <a:t>CONTENTS</a:t>
            </a:r>
          </a:p>
        </p:txBody>
      </p:sp>
      <p:sp>
        <p:nvSpPr>
          <p:cNvPr id="13" name="TextBox 13"/>
          <p:cNvSpPr txBox="1"/>
          <p:nvPr/>
        </p:nvSpPr>
        <p:spPr>
          <a:xfrm>
            <a:off x="1254466" y="1325880"/>
            <a:ext cx="7867015" cy="6212840"/>
          </a:xfrm>
          <a:prstGeom prst="rect">
            <a:avLst/>
          </a:prstGeom>
        </p:spPr>
        <p:txBody>
          <a:bodyPr lIns="0" tIns="0" rIns="0" bIns="0" rtlCol="0" anchor="t">
            <a:noAutofit/>
          </a:bodyPr>
          <a:lstStyle/>
          <a:p>
            <a:pPr marL="389890" lvl="1" indent="-194945" algn="just">
              <a:lnSpc>
                <a:spcPct val="150000"/>
              </a:lnSpc>
              <a:buFont typeface="Arial" panose="020B0604020202020204"/>
              <a:buChar char="•"/>
            </a:pPr>
            <a:r>
              <a:rPr lang="en-IN" altLang="en-US" sz="1400" dirty="0">
                <a:solidFill>
                  <a:srgbClr val="000000"/>
                </a:solidFill>
                <a:latin typeface="Times New Roman Bold" panose="02020803070505020304" pitchFamily="18" charset="0"/>
                <a:cs typeface="Times New Roman Bold" panose="02020803070505020304" pitchFamily="18" charset="0"/>
              </a:rPr>
              <a:t>   </a:t>
            </a:r>
            <a:r>
              <a:rPr lang="en-IN" altLang="en-US" sz="1400" dirty="0">
                <a:solidFill>
                  <a:srgbClr val="000000"/>
                </a:solidFill>
                <a:latin typeface="Times New Roman" panose="02020603050405020304" pitchFamily="18" charset="0"/>
                <a:cs typeface="Times New Roman" panose="02020603050405020304" pitchFamily="18" charset="0"/>
              </a:rPr>
              <a:t> </a:t>
            </a:r>
            <a:r>
              <a:rPr lang="en-US" sz="1400" dirty="0">
                <a:solidFill>
                  <a:srgbClr val="000000"/>
                </a:solidFill>
                <a:latin typeface="Times New Roman" panose="02020603050405020304" pitchFamily="18" charset="0"/>
                <a:cs typeface="Times New Roman" panose="02020603050405020304" pitchFamily="18" charset="0"/>
              </a:rPr>
              <a:t>Introduction and overview</a:t>
            </a:r>
          </a:p>
          <a:p>
            <a:pPr marL="389890" lvl="1" indent="-194945" algn="just">
              <a:lnSpc>
                <a:spcPct val="150000"/>
              </a:lnSpc>
              <a:buFont typeface="Arial" panose="020B0604020202020204"/>
              <a:buChar char="•"/>
            </a:pPr>
            <a:r>
              <a:rPr lang="en-IN" altLang="en-US" sz="1400" dirty="0">
                <a:solidFill>
                  <a:srgbClr val="000000"/>
                </a:solidFill>
                <a:latin typeface="Times New Roman" panose="02020603050405020304" pitchFamily="18" charset="0"/>
                <a:cs typeface="Times New Roman" panose="02020603050405020304" pitchFamily="18" charset="0"/>
              </a:rPr>
              <a:t>    Existing system</a:t>
            </a:r>
          </a:p>
          <a:p>
            <a:pPr marL="389890" lvl="1" indent="-194945" algn="just">
              <a:lnSpc>
                <a:spcPct val="150000"/>
              </a:lnSpc>
              <a:buFont typeface="Arial" panose="020B0604020202020204"/>
              <a:buChar char="•"/>
            </a:pPr>
            <a:r>
              <a:rPr lang="en-IN" sz="1400" dirty="0">
                <a:solidFill>
                  <a:srgbClr val="000000"/>
                </a:solidFill>
                <a:latin typeface="Times New Roman" panose="02020603050405020304" pitchFamily="18" charset="0"/>
                <a:cs typeface="Times New Roman" panose="02020603050405020304" pitchFamily="18" charset="0"/>
              </a:rPr>
              <a:t>   Existing System-Disadvantages </a:t>
            </a:r>
            <a:endParaRPr lang="en-US" sz="1400" dirty="0">
              <a:solidFill>
                <a:srgbClr val="000000"/>
              </a:solidFill>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r>
              <a:rPr lang="en-IN" altLang="en-US" sz="1400" dirty="0">
                <a:solidFill>
                  <a:srgbClr val="000000"/>
                </a:solidFill>
                <a:latin typeface="Times New Roman" panose="02020603050405020304" pitchFamily="18" charset="0"/>
                <a:cs typeface="Times New Roman" panose="02020603050405020304" pitchFamily="18" charset="0"/>
              </a:rPr>
              <a:t>   </a:t>
            </a:r>
            <a:r>
              <a:rPr lang="en-US" sz="1400" dirty="0">
                <a:solidFill>
                  <a:srgbClr val="000000"/>
                </a:solidFill>
                <a:latin typeface="Times New Roman" panose="02020603050405020304" pitchFamily="18" charset="0"/>
                <a:cs typeface="Times New Roman" panose="02020603050405020304" pitchFamily="18" charset="0"/>
              </a:rPr>
              <a:t>Proposed system</a:t>
            </a:r>
          </a:p>
          <a:p>
            <a:pPr marL="389890" lvl="1" indent="-194945" algn="just">
              <a:lnSpc>
                <a:spcPct val="150000"/>
              </a:lnSpc>
              <a:buFont typeface="Arial" panose="020B0604020202020204"/>
              <a:buChar char="•"/>
            </a:pPr>
            <a:r>
              <a:rPr lang="en-IN" altLang="en-US" sz="1400" dirty="0">
                <a:solidFill>
                  <a:srgbClr val="000000"/>
                </a:solidFill>
                <a:latin typeface="Times New Roman" panose="02020603050405020304" pitchFamily="18" charset="0"/>
                <a:cs typeface="Times New Roman" panose="02020603050405020304" pitchFamily="18" charset="0"/>
              </a:rPr>
              <a:t>    Proposed System-</a:t>
            </a:r>
            <a:r>
              <a:rPr lang="en-US" sz="1400" dirty="0">
                <a:solidFill>
                  <a:srgbClr val="000000"/>
                </a:solidFill>
                <a:latin typeface="Times New Roman" panose="02020603050405020304" pitchFamily="18" charset="0"/>
                <a:cs typeface="Times New Roman" panose="02020603050405020304" pitchFamily="18" charset="0"/>
              </a:rPr>
              <a:t>Advantages</a:t>
            </a:r>
          </a:p>
          <a:p>
            <a:pPr marL="389890" lvl="1" indent="-194945" algn="just">
              <a:lnSpc>
                <a:spcPct val="150000"/>
              </a:lnSpc>
              <a:buFont typeface="Arial" panose="020B0604020202020204"/>
              <a:buChar char="•"/>
            </a:pPr>
            <a:r>
              <a:rPr lang="en-IN" altLang="en-US" sz="1400" dirty="0">
                <a:solidFill>
                  <a:srgbClr val="000000"/>
                </a:solidFill>
                <a:latin typeface="Times New Roman" panose="02020603050405020304" pitchFamily="18" charset="0"/>
                <a:cs typeface="Times New Roman" panose="02020603050405020304" pitchFamily="18" charset="0"/>
              </a:rPr>
              <a:t>    Software and Hardware Requirements</a:t>
            </a:r>
          </a:p>
          <a:p>
            <a:pPr marL="537845" lvl="1" indent="-342900" algn="just">
              <a:lnSpc>
                <a:spcPct val="150000"/>
              </a:lnSpc>
              <a:buFont typeface="Arial" panose="020B0604020202020204" pitchFamily="34" charset="0"/>
              <a:buChar char="•"/>
            </a:pPr>
            <a:r>
              <a:rPr lang="en-US" sz="1400" dirty="0">
                <a:solidFill>
                  <a:srgbClr val="000000"/>
                </a:solidFill>
                <a:latin typeface="Times New Roman" panose="02020603050405020304" pitchFamily="18" charset="0"/>
                <a:cs typeface="Times New Roman" panose="02020603050405020304" pitchFamily="18" charset="0"/>
                <a:sym typeface="+mn-ea"/>
              </a:rPr>
              <a:t>Novelty of the project</a:t>
            </a:r>
            <a:endParaRPr lang="en-US" sz="1400" dirty="0">
              <a:solidFill>
                <a:srgbClr val="000000"/>
              </a:solidFill>
              <a:latin typeface="Times New Roman" panose="02020603050405020304" pitchFamily="18" charset="0"/>
              <a:cs typeface="Times New Roman" panose="02020603050405020304" pitchFamily="18" charset="0"/>
            </a:endParaRPr>
          </a:p>
          <a:p>
            <a:pPr marL="537845" lvl="1" indent="-342900" algn="just">
              <a:lnSpc>
                <a:spcPct val="150000"/>
              </a:lnSpc>
              <a:buFont typeface="Arial" panose="020B0604020202020204" pitchFamily="34" charset="0"/>
              <a:buChar char="•"/>
            </a:pPr>
            <a:r>
              <a:rPr lang="en-US" sz="1400" dirty="0">
                <a:solidFill>
                  <a:srgbClr val="000000"/>
                </a:solidFill>
                <a:latin typeface="Times New Roman" panose="02020603050405020304" pitchFamily="18" charset="0"/>
                <a:cs typeface="Times New Roman" panose="02020603050405020304" pitchFamily="18" charset="0"/>
                <a:sym typeface="+mn-ea"/>
              </a:rPr>
              <a:t>System Architecture</a:t>
            </a:r>
            <a:endParaRPr lang="en-US" sz="1400" dirty="0">
              <a:solidFill>
                <a:srgbClr val="000000"/>
              </a:solidFill>
              <a:latin typeface="Times New Roman" panose="02020603050405020304" pitchFamily="18" charset="0"/>
              <a:cs typeface="Times New Roman" panose="02020603050405020304" pitchFamily="18" charset="0"/>
            </a:endParaRPr>
          </a:p>
          <a:p>
            <a:pPr marL="537845" lvl="1" indent="-342900" algn="just">
              <a:lnSpc>
                <a:spcPct val="150000"/>
              </a:lnSpc>
              <a:buFont typeface="Arial" panose="020B0604020202020204" pitchFamily="34" charset="0"/>
              <a:buChar char="•"/>
            </a:pPr>
            <a:r>
              <a:rPr lang="en-US" sz="1400" dirty="0">
                <a:solidFill>
                  <a:srgbClr val="000000"/>
                </a:solidFill>
                <a:latin typeface="Times New Roman" panose="02020603050405020304" pitchFamily="18" charset="0"/>
                <a:cs typeface="Times New Roman" panose="02020603050405020304" pitchFamily="18" charset="0"/>
                <a:sym typeface="+mn-ea"/>
              </a:rPr>
              <a:t>Modules</a:t>
            </a:r>
            <a:endParaRPr lang="en-US" sz="1400" dirty="0">
              <a:solidFill>
                <a:srgbClr val="000000"/>
              </a:solidFill>
              <a:latin typeface="Times New Roman" panose="02020603050405020304" pitchFamily="18" charset="0"/>
              <a:cs typeface="Times New Roman" panose="02020603050405020304" pitchFamily="18" charset="0"/>
            </a:endParaRPr>
          </a:p>
          <a:p>
            <a:pPr marL="537845" lvl="1" indent="-342900" algn="just">
              <a:lnSpc>
                <a:spcPct val="150000"/>
              </a:lnSpc>
              <a:buFont typeface="Arial" panose="020B0604020202020204" pitchFamily="34" charset="0"/>
              <a:buChar char="•"/>
            </a:pPr>
            <a:r>
              <a:rPr lang="en-US" sz="1400" dirty="0">
                <a:solidFill>
                  <a:srgbClr val="000000"/>
                </a:solidFill>
                <a:latin typeface="Times New Roman" panose="02020603050405020304" pitchFamily="18" charset="0"/>
                <a:cs typeface="Times New Roman" panose="02020603050405020304" pitchFamily="18" charset="0"/>
                <a:sym typeface="+mn-ea"/>
              </a:rPr>
              <a:t>Source Code</a:t>
            </a:r>
            <a:endParaRPr lang="en-US" sz="1400" dirty="0">
              <a:solidFill>
                <a:srgbClr val="000000"/>
              </a:solidFill>
              <a:latin typeface="Times New Roman" panose="02020603050405020304" pitchFamily="18" charset="0"/>
              <a:cs typeface="Times New Roman" panose="02020603050405020304" pitchFamily="18" charset="0"/>
            </a:endParaRPr>
          </a:p>
          <a:p>
            <a:pPr marL="537845" lvl="1" indent="-342900" algn="just">
              <a:lnSpc>
                <a:spcPct val="150000"/>
              </a:lnSpc>
              <a:buFont typeface="Arial" panose="020B0604020202020204" pitchFamily="34" charset="0"/>
              <a:buChar char="•"/>
            </a:pPr>
            <a:r>
              <a:rPr lang="en-US" sz="1400" dirty="0">
                <a:solidFill>
                  <a:srgbClr val="000000"/>
                </a:solidFill>
                <a:latin typeface="Times New Roman" panose="02020603050405020304" pitchFamily="18" charset="0"/>
                <a:cs typeface="Times New Roman" panose="02020603050405020304" pitchFamily="18" charset="0"/>
                <a:sym typeface="+mn-ea"/>
              </a:rPr>
              <a:t>Results</a:t>
            </a:r>
            <a:endParaRPr lang="en-US" sz="1400" dirty="0">
              <a:solidFill>
                <a:srgbClr val="000000"/>
              </a:solidFill>
              <a:latin typeface="Times New Roman" panose="02020603050405020304" pitchFamily="18" charset="0"/>
              <a:cs typeface="Times New Roman" panose="02020603050405020304" pitchFamily="18" charset="0"/>
            </a:endParaRPr>
          </a:p>
          <a:p>
            <a:pPr marL="537845" lvl="1" indent="-342900" algn="just">
              <a:lnSpc>
                <a:spcPct val="150000"/>
              </a:lnSpc>
              <a:buFont typeface="Arial" panose="020B0604020202020204" pitchFamily="34" charset="0"/>
              <a:buChar char="•"/>
            </a:pPr>
            <a:r>
              <a:rPr lang="en-US" altLang="en-IN" sz="1400" dirty="0">
                <a:latin typeface="Times New Roman" panose="02020603050405020304" pitchFamily="18" charset="0"/>
                <a:cs typeface="Times New Roman" panose="02020603050405020304" pitchFamily="18" charset="0"/>
                <a:sym typeface="+mn-ea"/>
              </a:rPr>
              <a:t>UML Diagrams</a:t>
            </a:r>
            <a:endParaRPr lang="en-IN" sz="1400" dirty="0">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r>
              <a:rPr lang="en-US" sz="1400" dirty="0">
                <a:solidFill>
                  <a:srgbClr val="000000"/>
                </a:solidFill>
                <a:latin typeface="Times New Roman" panose="02020603050405020304" pitchFamily="18" charset="0"/>
                <a:cs typeface="Times New Roman" panose="02020603050405020304" pitchFamily="18" charset="0"/>
                <a:sym typeface="+mn-ea"/>
              </a:rPr>
              <a:t>   Conclusion &amp; Enhancement</a:t>
            </a:r>
            <a:endParaRPr lang="en-US" sz="1400" dirty="0">
              <a:solidFill>
                <a:srgbClr val="000000"/>
              </a:solidFill>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r>
              <a:rPr lang="en-US" sz="1400" dirty="0">
                <a:solidFill>
                  <a:srgbClr val="000000"/>
                </a:solidFill>
                <a:latin typeface="Times New Roman" panose="02020603050405020304" pitchFamily="18" charset="0"/>
                <a:cs typeface="Times New Roman" panose="02020603050405020304" pitchFamily="18" charset="0"/>
                <a:sym typeface="+mn-ea"/>
              </a:rPr>
              <a:t>   References</a:t>
            </a:r>
            <a:endParaRPr lang="en-US" sz="1400" dirty="0">
              <a:solidFill>
                <a:srgbClr val="000000"/>
              </a:solidFill>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r>
              <a:rPr lang="en-US" sz="1400" dirty="0">
                <a:solidFill>
                  <a:srgbClr val="000000"/>
                </a:solidFill>
                <a:latin typeface="Times New Roman" panose="02020603050405020304" pitchFamily="18" charset="0"/>
                <a:cs typeface="Times New Roman" panose="02020603050405020304" pitchFamily="18" charset="0"/>
                <a:sym typeface="+mn-ea"/>
              </a:rPr>
              <a:t>   GitHub Link</a:t>
            </a:r>
            <a:endParaRPr lang="en-US" sz="1400" dirty="0">
              <a:solidFill>
                <a:srgbClr val="000000"/>
              </a:solidFill>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endParaRPr lang="en-US" sz="1400" dirty="0">
              <a:solidFill>
                <a:srgbClr val="000000"/>
              </a:solidFill>
              <a:latin typeface="Times New Roman Bold" panose="02020803070505020304" pitchFamily="18" charset="0"/>
              <a:cs typeface="Times New Roman Bold" panose="02020803070505020304" pitchFamily="18" charset="0"/>
            </a:endParaRPr>
          </a:p>
          <a:p>
            <a:pPr marL="389890" lvl="1" indent="-194945" algn="just">
              <a:lnSpc>
                <a:spcPct val="150000"/>
              </a:lnSpc>
              <a:buFont typeface="Arial" panose="020B0604020202020204"/>
              <a:buChar char="•"/>
            </a:pPr>
            <a:endParaRPr lang="en-US" sz="1400" dirty="0">
              <a:solidFill>
                <a:srgbClr val="000000"/>
              </a:solidFill>
              <a:latin typeface="Times New Roman Bold" panose="02020803070505020304" pitchFamily="18" charset="0"/>
              <a:cs typeface="Times New Roman Bold" panose="020208030705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9657" y="1883020"/>
            <a:ext cx="10820400" cy="3826707"/>
            <a:chOff x="0" y="0"/>
            <a:chExt cx="4274726" cy="17189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grpSp>
        <p:nvGrpSpPr>
          <p:cNvPr id="5" name="Group 5"/>
          <p:cNvGrpSpPr/>
          <p:nvPr/>
        </p:nvGrpSpPr>
        <p:grpSpPr>
          <a:xfrm>
            <a:off x="2281082" y="699044"/>
            <a:ext cx="7177548"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dirty="0"/>
            </a:p>
          </p:txBody>
        </p:sp>
      </p:grpSp>
      <p:sp>
        <p:nvSpPr>
          <p:cNvPr id="12" name="TextBox 12"/>
          <p:cNvSpPr txBox="1"/>
          <p:nvPr/>
        </p:nvSpPr>
        <p:spPr>
          <a:xfrm>
            <a:off x="1725559" y="636905"/>
            <a:ext cx="8288594" cy="790575"/>
          </a:xfrm>
          <a:prstGeom prst="rect">
            <a:avLst/>
          </a:prstGeom>
        </p:spPr>
        <p:txBody>
          <a:bodyPr wrap="square" lIns="0" tIns="0" rIns="0" bIns="0" rtlCol="0" anchor="t">
            <a:spAutoFit/>
          </a:bodyPr>
          <a:lstStyle/>
          <a:p>
            <a:pPr algn="ctr">
              <a:lnSpc>
                <a:spcPts val="6165"/>
              </a:lnSpc>
            </a:pPr>
            <a:r>
              <a:rPr lang="en-US" sz="3200" dirty="0">
                <a:latin typeface="Times New Roman" panose="02020603050405020304"/>
                <a:cs typeface="Times New Roman" panose="02020603050405020304"/>
              </a:rPr>
              <a:t>INTRODUCTION AND OVERVIEW</a:t>
            </a:r>
            <a:endParaRPr lang="en-US" sz="4405" dirty="0">
              <a:solidFill>
                <a:srgbClr val="000000"/>
              </a:solidFill>
              <a:latin typeface="Times New Roman Bold" panose="02030802070405020303"/>
            </a:endParaRPr>
          </a:p>
        </p:txBody>
      </p:sp>
      <p:sp>
        <p:nvSpPr>
          <p:cNvPr id="8" name="Rectangle 1"/>
          <p:cNvSpPr>
            <a:spLocks noChangeArrowheads="1"/>
          </p:cNvSpPr>
          <p:nvPr/>
        </p:nvSpPr>
        <p:spPr bwMode="auto">
          <a:xfrm>
            <a:off x="835741" y="1816634"/>
            <a:ext cx="10068231" cy="396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Mental and neurological disorders affect over 450 million people worldwide, yet their diagnosis often depends on subjective clinical assessments, leading to inaccurate or delayed treatment. To address this challenge, this project proposes a web-based Flask application for automated EEG-based disorder classification using machine learning and deep learning techniques. The system incorporates secure role-based access, enabling administrators to train and compare multiple classifiers—including Random Forest, Support Vector Machine (SVM), Logistic Regression, Decision Tree, and Hybrid Graph Neural Networks—while users can upload EEG data for real-time predictions. Using EEG datasets sourced from Kaggle, the application classifies six major psychiatric disorder categories such as anxiety, mood, and trauma-related conditions by identifying complex brain signal patterns. This automated, AI-driven approach improves diagnostic accuracy, reduces manual effort, enhances clinical efficiency, and supports research in precision psychiatry and neurological disorder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4540" y="463550"/>
            <a:ext cx="5321300" cy="1000760"/>
          </a:xfrm>
          <a:solidFill>
            <a:schemeClr val="tx2">
              <a:lumMod val="20000"/>
              <a:lumOff val="80000"/>
            </a:schemeClr>
          </a:solidFill>
        </p:spPr>
        <p:txBody>
          <a:bodyPr/>
          <a:lstStyle/>
          <a:p>
            <a:r>
              <a:rPr lang="en-IN" altLang="en-US" sz="4000">
                <a:ln>
                  <a:solidFill>
                    <a:schemeClr val="bg2"/>
                  </a:solidFill>
                </a:ln>
                <a:solidFill>
                  <a:schemeClr val="tx1"/>
                </a:solidFill>
                <a:latin typeface="Times New Roman" panose="02020603050405020304" pitchFamily="18" charset="0"/>
                <a:cs typeface="Times New Roman" panose="02020603050405020304" pitchFamily="18" charset="0"/>
              </a:rPr>
              <a:t>  EXISTING SYSTEM</a:t>
            </a:r>
          </a:p>
        </p:txBody>
      </p:sp>
      <p:sp>
        <p:nvSpPr>
          <p:cNvPr id="4" name="Rectangle 1"/>
          <p:cNvSpPr>
            <a:spLocks noChangeArrowheads="1"/>
          </p:cNvSpPr>
          <p:nvPr/>
        </p:nvSpPr>
        <p:spPr bwMode="auto">
          <a:xfrm>
            <a:off x="1457065" y="2161217"/>
            <a:ext cx="9277870"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EEG-based diagnosis relied on manual waveform analysis, clinical observations, and basic machine learning methods such as KNN and Naive Bayes. These approaches required manual feature extraction, were time-consuming, and failed to capture complex EEG patterns, leading to limited accuracy and inconsistent results. The lack of automation and real-time analysis made traditional systems inefficient, highlighting the need for advanced, data-driven diagnostic methods.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28495" y="414020"/>
            <a:ext cx="8335010" cy="1056005"/>
          </a:xfrm>
          <a:solidFill>
            <a:schemeClr val="tx2">
              <a:lumMod val="20000"/>
              <a:lumOff val="80000"/>
            </a:schemeClr>
          </a:solidFill>
        </p:spPr>
        <p:txBody>
          <a:bodyPr>
            <a:normAutofit fontScale="90000"/>
          </a:bodyPr>
          <a:lstStyle/>
          <a:p>
            <a:pPr>
              <a:lnSpc>
                <a:spcPct val="100000"/>
              </a:lnSpc>
            </a:pPr>
            <a:br>
              <a:rPr lang="en-US" sz="3200" dirty="0">
                <a:latin typeface="Times New Roman" panose="02020603050405020304" pitchFamily="18" charset="0"/>
                <a:cs typeface="Times New Roman" panose="02020603050405020304" pitchFamily="18" charset="0"/>
              </a:rPr>
            </a:br>
            <a:r>
              <a:rPr lang="en-IN" alt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DISADVANTAGES OF EXISTING SYSTEM </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6" name="Rectangle 1"/>
          <p:cNvSpPr>
            <a:spLocks noGrp="1" noChangeArrowheads="1"/>
          </p:cNvSpPr>
          <p:nvPr>
            <p:ph idx="1"/>
          </p:nvPr>
        </p:nvSpPr>
        <p:spPr bwMode="auto">
          <a:xfrm>
            <a:off x="919930" y="1745718"/>
            <a:ext cx="1035214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Diagnosis and feature selection rely heavily on expert knowledge, leading to subjective and inconsistent results.</a:t>
            </a:r>
          </a:p>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EEG signal analysis and feature extraction are time-consuming and unsuitable for real-time diagnosis.</a:t>
            </a:r>
          </a:p>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methods fail to capture complex, nonlinear patterns present in EEG signals, reducing classification accuracy.</a:t>
            </a:r>
          </a:p>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Classical models such as KNN, Naïve Bayes, and LDA show poor performance and generalization on large, noisy EEG datasets.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8" y="647808"/>
            <a:ext cx="5339984" cy="775168"/>
            <a:chOff x="0" y="0"/>
            <a:chExt cx="2109623" cy="306239"/>
          </a:xfrm>
          <a:solidFill>
            <a:schemeClr val="tx2">
              <a:lumMod val="20000"/>
              <a:lumOff val="80000"/>
            </a:schemeClr>
          </a:solidFill>
        </p:grpSpPr>
        <p:sp>
          <p:nvSpPr>
            <p:cNvPr id="6" name="Freeform 6"/>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344339"/>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3" name="TextBox 13"/>
          <p:cNvSpPr txBox="1"/>
          <p:nvPr/>
        </p:nvSpPr>
        <p:spPr>
          <a:xfrm>
            <a:off x="3570530" y="637452"/>
            <a:ext cx="5050939" cy="530017"/>
          </a:xfrm>
          <a:prstGeom prst="rect">
            <a:avLst/>
          </a:prstGeom>
        </p:spPr>
        <p:txBody>
          <a:bodyPr lIns="0" tIns="0" rIns="0" bIns="0" rtlCol="0" anchor="t">
            <a:spAutoFit/>
          </a:bodyPr>
          <a:lstStyle/>
          <a:p>
            <a:pPr algn="ctr">
              <a:lnSpc>
                <a:spcPts val="4525"/>
              </a:lnSpc>
            </a:pPr>
            <a:r>
              <a:rPr lang="en-US" sz="3235" dirty="0">
                <a:solidFill>
                  <a:srgbClr val="000000"/>
                </a:solidFill>
                <a:latin typeface="Times New Roman Bold" panose="02030802070405020303"/>
              </a:rPr>
              <a:t>PROPOSED SYSTEM</a:t>
            </a:r>
          </a:p>
        </p:txBody>
      </p:sp>
      <p:grpSp>
        <p:nvGrpSpPr>
          <p:cNvPr id="3" name="Group 2"/>
          <p:cNvGrpSpPr/>
          <p:nvPr/>
        </p:nvGrpSpPr>
        <p:grpSpPr>
          <a:xfrm>
            <a:off x="54340" y="355339"/>
            <a:ext cx="11831393" cy="5951293"/>
            <a:chOff x="0" y="-38100"/>
            <a:chExt cx="4554863" cy="2128351"/>
          </a:xfrm>
        </p:grpSpPr>
        <p:sp>
          <p:nvSpPr>
            <p:cNvPr id="4" name="Freeform 3"/>
            <p:cNvSpPr/>
            <p:nvPr/>
          </p:nvSpPr>
          <p:spPr>
            <a:xfrm>
              <a:off x="280137" y="371298"/>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chemeClr val="bg1"/>
            </a:solidFill>
          </p:spPr>
          <p:txBody>
            <a:bodyPr/>
            <a:lstStyle/>
            <a:p>
              <a:endParaRPr lang="en-IN" dirty="0"/>
            </a:p>
          </p:txBody>
        </p:sp>
        <p:sp>
          <p:nvSpPr>
            <p:cNvPr id="8" name="TextBox 4"/>
            <p:cNvSpPr txBox="1"/>
            <p:nvPr/>
          </p:nvSpPr>
          <p:spPr>
            <a:xfrm>
              <a:off x="0" y="-38100"/>
              <a:ext cx="4274726" cy="1757053"/>
            </a:xfrm>
            <a:prstGeom prst="rect">
              <a:avLst/>
            </a:prstGeom>
          </p:spPr>
          <p:txBody>
            <a:bodyPr lIns="33867" tIns="33867" rIns="33867" bIns="33867" rtlCol="0" anchor="ctr"/>
            <a:lstStyle/>
            <a:p>
              <a:pPr algn="ctr">
                <a:lnSpc>
                  <a:spcPts val="1775"/>
                </a:lnSpc>
                <a:spcBef>
                  <a:spcPct val="0"/>
                </a:spcBef>
              </a:pPr>
              <a:endParaRPr sz="1200"/>
            </a:p>
          </p:txBody>
        </p:sp>
      </p:grpSp>
      <p:sp>
        <p:nvSpPr>
          <p:cNvPr id="9" name="TextBox 11"/>
          <p:cNvSpPr txBox="1"/>
          <p:nvPr/>
        </p:nvSpPr>
        <p:spPr>
          <a:xfrm>
            <a:off x="981774" y="2105801"/>
            <a:ext cx="10032590" cy="3830320"/>
          </a:xfrm>
          <a:prstGeom prst="rect">
            <a:avLst/>
          </a:prstGeom>
        </p:spPr>
        <p:txBody>
          <a:bodyPr lIns="0" tIns="0" rIns="0" bIns="0" rtlCol="0" anchor="t">
            <a:noAutofit/>
          </a:bodyPr>
          <a:lstStyle/>
          <a:p>
            <a:pPr marL="342900" indent="-342900" algn="just">
              <a:lnSpc>
                <a:spcPct val="150000"/>
              </a:lnSpc>
              <a:buFont typeface="Wingdings" panose="05000000000000000000" pitchFamily="2" charset="2"/>
              <a:buChar cha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281738" y="2105549"/>
            <a:ext cx="10230406" cy="258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indent="0" algn="just">
              <a:lnSpc>
                <a:spcPct val="15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This project introduces a Flask-based web application that integrates secure user management and advanced machine learning (ML) algorithms including Random Forests, Support Vector Machines, Logistic Regression, Decision Trees, and a Hybrid Graph Neural Network to automate the classification of main and specific EEG-based disorders. The system allows for role-based access, model training, feature exploration, performance comparison, and user-side batch predictions via web interface, leveraging a broad spectrum of EEG-derived features and demographic information.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41175" y="1665954"/>
            <a:ext cx="10957405" cy="4531811"/>
            <a:chOff x="-60231" y="-38100"/>
            <a:chExt cx="4334957" cy="17570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60231" y="-38100"/>
              <a:ext cx="4334957" cy="1757053"/>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0" name="TextBox 9"/>
          <p:cNvSpPr txBox="1"/>
          <p:nvPr/>
        </p:nvSpPr>
        <p:spPr>
          <a:xfrm>
            <a:off x="1530095" y="2063003"/>
            <a:ext cx="9782633" cy="2061210"/>
          </a:xfrm>
          <a:prstGeom prst="rect">
            <a:avLst/>
          </a:prstGeom>
          <a:noFill/>
        </p:spPr>
        <p:txBody>
          <a:bodyPr wrap="square">
            <a:spAutoFit/>
          </a:bodyPr>
          <a:lstStyle/>
          <a:p>
            <a:pPr marL="285750" lvl="0" indent="-285750" algn="just">
              <a:lnSpc>
                <a:spcPct val="150000"/>
              </a:lnSpc>
              <a:spcAft>
                <a:spcPts val="800"/>
              </a:spcAft>
              <a:buSzPts val="1000"/>
              <a:buFont typeface="Wingdings" panose="05000000000000000000" pitchFamily="2" charset="2"/>
              <a:buChar char="§"/>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Automation: Reduces manual EEG interpretation and human error.</a:t>
            </a:r>
          </a:p>
          <a:p>
            <a:pPr marL="285750" lvl="0" indent="-285750" algn="just">
              <a:lnSpc>
                <a:spcPct val="150000"/>
              </a:lnSpc>
              <a:spcAft>
                <a:spcPts val="800"/>
              </a:spcAft>
              <a:buSzPts val="1000"/>
              <a:buFont typeface="Wingdings" panose="05000000000000000000" pitchFamily="2" charset="2"/>
              <a:buChar char="§"/>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Accuracy: Uses multiple ML models for precise disorder classification.</a:t>
            </a:r>
          </a:p>
          <a:p>
            <a:pPr marL="285750" lvl="0" indent="-285750" algn="just">
              <a:lnSpc>
                <a:spcPct val="150000"/>
              </a:lnSpc>
              <a:spcAft>
                <a:spcPts val="800"/>
              </a:spcAft>
              <a:buSzPts val="1000"/>
              <a:buFont typeface="Wingdings" panose="05000000000000000000" pitchFamily="2" charset="2"/>
              <a:buChar char="§"/>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Efficiency: Enables faster analysis and decision-making.</a:t>
            </a:r>
          </a:p>
          <a:p>
            <a:pPr marL="285750" lvl="0" indent="-285750" algn="just">
              <a:lnSpc>
                <a:spcPct val="150000"/>
              </a:lnSpc>
              <a:spcAft>
                <a:spcPts val="800"/>
              </a:spcAft>
              <a:buSzPts val="1000"/>
              <a:buFont typeface="Wingdings" panose="05000000000000000000" pitchFamily="2" charset="2"/>
              <a:buChar char="§"/>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Early Detection: Facilitates timely diagnosis of neuropsychiatric disorders.</a:t>
            </a:r>
          </a:p>
        </p:txBody>
      </p:sp>
      <p:sp>
        <p:nvSpPr>
          <p:cNvPr id="12" name="Title 1"/>
          <p:cNvSpPr>
            <a:spLocks noGrp="1"/>
          </p:cNvSpPr>
          <p:nvPr/>
        </p:nvSpPr>
        <p:spPr>
          <a:xfrm>
            <a:off x="2682240" y="463550"/>
            <a:ext cx="5608320" cy="1000760"/>
          </a:xfrm>
          <a:prstGeom prst="rect">
            <a:avLst/>
          </a:prstGeom>
          <a:solidFill>
            <a:schemeClr val="tx2">
              <a:lumMod val="20000"/>
              <a:lumOff val="80000"/>
            </a:schemeClr>
          </a:solidFill>
        </p:spPr>
        <p:txBody>
          <a:bodyPr vert="horz" lIns="91440" tIns="45720" rIns="91440" bIns="45720" rtlCol="0" anchor="ctr">
            <a:normAutofit fontScale="8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000000"/>
                </a:solidFill>
                <a:latin typeface="Times New Roman Bold" panose="02030802070405020303"/>
                <a:sym typeface="+mn-ea"/>
              </a:rPr>
              <a:t>PROPOSED SYSTEM</a:t>
            </a:r>
            <a:r>
              <a:rPr lang="en-IN" altLang="en-US" sz="4000" dirty="0">
                <a:solidFill>
                  <a:srgbClr val="000000"/>
                </a:solidFill>
                <a:latin typeface="Times New Roman Bold" panose="02030802070405020303"/>
                <a:sym typeface="+mn-ea"/>
              </a:rPr>
              <a:t>   </a:t>
            </a:r>
            <a:r>
              <a:rPr lang="en-US" sz="4000" dirty="0">
                <a:solidFill>
                  <a:srgbClr val="000000"/>
                </a:solidFill>
                <a:latin typeface="Times New Roman Bold" panose="02030802070405020303"/>
                <a:sym typeface="+mn-ea"/>
              </a:rPr>
              <a:t>ADVANTAGES</a:t>
            </a:r>
            <a:endParaRPr lang="en-IN" altLang="en-US" sz="4000">
              <a:ln>
                <a:solidFill>
                  <a:schemeClr val="bg2"/>
                </a:solidFill>
              </a:ln>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3510" y="365125"/>
            <a:ext cx="9300210" cy="880745"/>
          </a:xfrm>
          <a:solidFill>
            <a:schemeClr val="tx2">
              <a:lumMod val="20000"/>
              <a:lumOff val="80000"/>
            </a:schemeClr>
          </a:solidFill>
        </p:spPr>
        <p:txBody>
          <a:bodyPr>
            <a:normAutofit/>
          </a:bodyPr>
          <a:lstStyle/>
          <a:p>
            <a:r>
              <a:rPr lang="en-IN" altLang="en-US" sz="3200" dirty="0">
                <a:solidFill>
                  <a:srgbClr val="000000"/>
                </a:solidFill>
                <a:latin typeface="Times New Roman" panose="02020603050405020304" pitchFamily="18" charset="0"/>
                <a:cs typeface="Times New Roman" panose="02020603050405020304" pitchFamily="18" charset="0"/>
                <a:sym typeface="+mn-ea"/>
              </a:rPr>
              <a:t>SOFTWARE AND HARDWARE REQUIREMENTS</a:t>
            </a:r>
          </a:p>
        </p:txBody>
      </p:sp>
      <p:sp>
        <p:nvSpPr>
          <p:cNvPr id="3" name="Content Placeholder 2"/>
          <p:cNvSpPr>
            <a:spLocks noGrp="1"/>
          </p:cNvSpPr>
          <p:nvPr>
            <p:ph idx="1"/>
          </p:nvPr>
        </p:nvSpPr>
        <p:spPr>
          <a:xfrm>
            <a:off x="838200" y="1825625"/>
            <a:ext cx="8201025" cy="2183130"/>
          </a:xfrm>
        </p:spPr>
        <p:txBody>
          <a:bodyPr>
            <a:noAutofit/>
          </a:bodyPr>
          <a:lstStyle/>
          <a:p>
            <a:pPr marL="0" indent="0">
              <a:lnSpc>
                <a:spcPct val="150000"/>
              </a:lnSpc>
              <a:buNone/>
            </a:pPr>
            <a:r>
              <a:rPr lang="en-IN" altLang="en-US" sz="2000" b="1" dirty="0">
                <a:latin typeface="Times New Roman" panose="02020603050405020304" pitchFamily="18" charset="0"/>
                <a:cs typeface="Times New Roman" panose="02020603050405020304" pitchFamily="18" charset="0"/>
              </a:rPr>
              <a:t>SOFTWARE REQUIREMENTS</a:t>
            </a:r>
          </a:p>
          <a:p>
            <a:pPr>
              <a:lnSpc>
                <a:spcPct val="150000"/>
              </a:lnSpc>
            </a:pP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Python 3.12.0</a:t>
            </a:r>
          </a:p>
          <a:p>
            <a:pPr>
              <a:lnSpc>
                <a:spcPct val="150000"/>
              </a:lnSpc>
            </a:pPr>
            <a:r>
              <a:rPr lang="en-US" altLang="en-US" sz="2000" dirty="0">
                <a:latin typeface="Times New Roman" panose="02020603050405020304" pitchFamily="18" charset="0"/>
                <a:cs typeface="Times New Roman" panose="02020603050405020304" pitchFamily="18" charset="0"/>
              </a:rPr>
              <a:t>Operating system: Windows</a:t>
            </a:r>
          </a:p>
          <a:p>
            <a:pPr>
              <a:lnSpc>
                <a:spcPct val="150000"/>
              </a:lnSpc>
            </a:pPr>
            <a:r>
              <a:rPr lang="en-US" altLang="en-US" sz="2000" dirty="0">
                <a:latin typeface="Times New Roman" panose="02020603050405020304" pitchFamily="18" charset="0"/>
                <a:cs typeface="Times New Roman" panose="02020603050405020304" pitchFamily="18" charset="0"/>
              </a:rPr>
              <a:t>Frontend: HTML, CSS</a:t>
            </a:r>
          </a:p>
          <a:p>
            <a:pPr>
              <a:lnSpc>
                <a:spcPct val="150000"/>
              </a:lnSpc>
            </a:pPr>
            <a:r>
              <a:rPr lang="en-US" altLang="en-US" sz="2000" dirty="0">
                <a:latin typeface="Times New Roman" panose="02020603050405020304" pitchFamily="18" charset="0"/>
                <a:cs typeface="Times New Roman" panose="02020603050405020304" pitchFamily="18" charset="0"/>
              </a:rPr>
              <a:t>Backend: Flask Server</a:t>
            </a:r>
          </a:p>
          <a:p>
            <a:pPr>
              <a:lnSpc>
                <a:spcPct val="150000"/>
              </a:lnSpc>
            </a:pPr>
            <a:r>
              <a:rPr lang="en-US" altLang="en-US" sz="2000" dirty="0">
                <a:latin typeface="Times New Roman" panose="02020603050405020304" pitchFamily="18" charset="0"/>
                <a:cs typeface="Times New Roman" panose="02020603050405020304" pitchFamily="18" charset="0"/>
              </a:rPr>
              <a:t>Database: SQLite</a:t>
            </a:r>
          </a:p>
          <a:p>
            <a:pPr marL="0" indent="0">
              <a:lnSpc>
                <a:spcPct val="150000"/>
              </a:lnSpc>
              <a:buNone/>
            </a:pPr>
            <a:endParaRPr lang="en-IN" altLang="en-US" sz="2000"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6096000" y="1826259"/>
            <a:ext cx="4365523" cy="3551985"/>
          </a:xfrm>
          <a:prstGeom prst="rect">
            <a:avLst/>
          </a:prstGeom>
          <a:noFill/>
        </p:spPr>
        <p:txBody>
          <a:bodyPr wrap="square" rtlCol="0">
            <a:noAutofit/>
          </a:bodyPr>
          <a:lstStyle/>
          <a:p>
            <a:pPr>
              <a:lnSpc>
                <a:spcPct val="150000"/>
              </a:lnSpc>
            </a:pPr>
            <a:r>
              <a:rPr lang="en-IN" altLang="en-US" sz="2000" b="1" dirty="0">
                <a:latin typeface="Times New Roman" panose="02020603050405020304" pitchFamily="18" charset="0"/>
                <a:cs typeface="Times New Roman" panose="02020603050405020304" pitchFamily="18" charset="0"/>
              </a:rPr>
              <a:t>HARDWARE REQUIREMENTS</a:t>
            </a:r>
          </a:p>
          <a:p>
            <a:pPr marL="34290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Processor: Intel i5</a:t>
            </a:r>
          </a:p>
          <a:p>
            <a:pPr marL="34290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Memory: 1 TB (storage)</a:t>
            </a:r>
          </a:p>
          <a:p>
            <a:pPr marL="34290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RAM: 8 GB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0067" y="315964"/>
            <a:ext cx="6191865" cy="1325563"/>
          </a:xfrm>
          <a:solidFill>
            <a:schemeClr val="bg1">
              <a:lumMod val="85000"/>
            </a:schemeClr>
          </a:solidFill>
          <a:ln>
            <a:noFill/>
          </a:ln>
        </p:spPr>
        <p:txBody>
          <a:bodyPr>
            <a:normAutofit/>
          </a:bodyPr>
          <a:lstStyle/>
          <a:p>
            <a:r>
              <a:rPr lang="en-IN" sz="3200" b="1" dirty="0">
                <a:ln>
                  <a:noFill/>
                </a:ln>
                <a:solidFill>
                  <a:schemeClr val="tx1"/>
                </a:solidFill>
                <a:latin typeface="Times New Roman" panose="02020603050405020304" pitchFamily="18" charset="0"/>
                <a:cs typeface="Times New Roman" panose="02020603050405020304" pitchFamily="18" charset="0"/>
              </a:rPr>
              <a:t>NOVELTY OF THE PROJECT</a:t>
            </a:r>
          </a:p>
        </p:txBody>
      </p:sp>
      <p:sp>
        <p:nvSpPr>
          <p:cNvPr id="3" name="Content Placeholder 2"/>
          <p:cNvSpPr>
            <a:spLocks noGrp="1"/>
          </p:cNvSpPr>
          <p:nvPr>
            <p:ph idx="1"/>
          </p:nvPr>
        </p:nvSpPr>
        <p:spPr/>
        <p:txBody>
          <a:bodyPr/>
          <a:lstStyle/>
          <a:p>
            <a:pPr marL="0" indent="0" algn="just">
              <a:lnSpc>
                <a:spcPct val="150000"/>
              </a:lnSpc>
              <a:buNone/>
            </a:pPr>
            <a:r>
              <a:rPr lang="en-US" altLang="en-US" sz="1800">
                <a:latin typeface="Times New Roman" panose="02020603050405020304" pitchFamily="18" charset="0"/>
                <a:cs typeface="Times New Roman" panose="02020603050405020304" pitchFamily="18" charset="0"/>
              </a:rPr>
              <a:t>This project presents a novel EEG-based psychiatric disorder identification system that classifies multiple mental health disorders using machine learning. Unlike traditional methods, it compares several ML models including Random Forest, SVM, Logistic Regression, Decision Tree, and a Hybrid Graph Neural Network. The system captures complex EEG feature relationships for improved accuracy. A secure Flask-based web application enables real-time predictions through CSV uploads. Role-based access separates model training and user prediction functions. Overall, the project offers a scalable, automated, and clinically useful solution for mental health diagnosis.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1253450"/>
            <a:ext cx="10820400" cy="4351101"/>
            <a:chOff x="0" y="0"/>
            <a:chExt cx="4274726" cy="17189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6" y="638114"/>
            <a:ext cx="6133705" cy="1523750"/>
          </a:xfrm>
          <a:prstGeom prst="rect">
            <a:avLst/>
          </a:prstGeom>
        </p:spPr>
        <p:txBody>
          <a:bodyPr lIns="0" tIns="0" rIns="0" bIns="0" rtlCol="0" anchor="t">
            <a:spAutoFit/>
          </a:bodyPr>
          <a:lstStyle/>
          <a:p>
            <a:pPr algn="ctr">
              <a:lnSpc>
                <a:spcPts val="6165"/>
              </a:lnSpc>
            </a:pPr>
            <a:r>
              <a:rPr lang="en-US" sz="3200" dirty="0">
                <a:solidFill>
                  <a:srgbClr val="000000"/>
                </a:solidFill>
                <a:latin typeface="Times New Roman Bold" panose="02030802070405020303"/>
              </a:rPr>
              <a:t>SYSTEM ARCHITECTURE</a:t>
            </a:r>
          </a:p>
          <a:p>
            <a:pPr algn="ctr">
              <a:lnSpc>
                <a:spcPts val="6165"/>
              </a:lnSpc>
            </a:pPr>
            <a:endParaRPr lang="en-US" sz="4405" dirty="0">
              <a:solidFill>
                <a:srgbClr val="000000"/>
              </a:solidFill>
              <a:latin typeface="Times New Roman Bold" panose="02030802070405020303"/>
            </a:endParaRPr>
          </a:p>
        </p:txBody>
      </p:sp>
      <p:pic>
        <p:nvPicPr>
          <p:cNvPr id="869046391" name="Picture 3" descr="A diagram of a data analysis platform&#10;&#10;AI-generated content may be incorr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128010" y="1882140"/>
            <a:ext cx="5951220" cy="44437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251835" y="632460"/>
            <a:ext cx="6133465" cy="897255"/>
          </a:xfrm>
          <a:prstGeom prst="rect">
            <a:avLst/>
          </a:prstGeom>
        </p:spPr>
        <p:txBody>
          <a:bodyPr lIns="0" tIns="0" rIns="0" bIns="0" rtlCol="0" anchor="t">
            <a:noAutofit/>
          </a:bodyPr>
          <a:lstStyle/>
          <a:p>
            <a:pPr algn="ctr">
              <a:lnSpc>
                <a:spcPts val="6165"/>
              </a:lnSpc>
            </a:pPr>
            <a:r>
              <a:rPr lang="en-US" sz="3200" dirty="0">
                <a:solidFill>
                  <a:srgbClr val="000000"/>
                </a:solidFill>
                <a:latin typeface="Times New Roman Bold" panose="02030802070405020303"/>
              </a:rPr>
              <a:t>MODULE</a:t>
            </a:r>
            <a:r>
              <a:rPr lang="en-IN" altLang="en-US" sz="3200" dirty="0">
                <a:solidFill>
                  <a:srgbClr val="000000"/>
                </a:solidFill>
                <a:latin typeface="Times New Roman Bold" panose="02030802070405020303"/>
              </a:rPr>
              <a:t>S</a:t>
            </a:r>
            <a:endParaRPr lang="en-US" sz="3200" dirty="0">
              <a:solidFill>
                <a:srgbClr val="000000"/>
              </a:solidFill>
              <a:latin typeface="Times New Roman Bold" panose="02030802070405020303"/>
            </a:endParaRPr>
          </a:p>
          <a:p>
            <a:pPr algn="ctr">
              <a:lnSpc>
                <a:spcPts val="6165"/>
              </a:lnSpc>
            </a:pPr>
            <a:endParaRPr lang="en-US" sz="4405" dirty="0">
              <a:solidFill>
                <a:srgbClr val="000000"/>
              </a:solidFill>
              <a:latin typeface="Times New Roman Bold" panose="02030802070405020303"/>
            </a:endParaRPr>
          </a:p>
        </p:txBody>
      </p:sp>
      <p:sp>
        <p:nvSpPr>
          <p:cNvPr id="10" name="TextBox 9"/>
          <p:cNvSpPr txBox="1"/>
          <p:nvPr/>
        </p:nvSpPr>
        <p:spPr>
          <a:xfrm>
            <a:off x="1820545" y="1807210"/>
            <a:ext cx="8550275" cy="2880995"/>
          </a:xfrm>
          <a:prstGeom prst="rect">
            <a:avLst/>
          </a:prstGeom>
          <a:noFill/>
        </p:spPr>
        <p:txBody>
          <a:bodyPr wrap="square">
            <a:noAutofit/>
          </a:bodyPr>
          <a:lstStyle/>
          <a:p>
            <a:pPr algn="just">
              <a:lnSpc>
                <a:spcPct val="150000"/>
              </a:lnSpc>
              <a:buNone/>
            </a:pPr>
            <a:r>
              <a:rPr lang="en-IN" altLang="en-US" sz="2000" b="1" dirty="0">
                <a:latin typeface="Times New Roman" panose="02020603050405020304" pitchFamily="18" charset="0"/>
                <a:cs typeface="Times New Roman" panose="02020603050405020304" pitchFamily="18" charset="0"/>
              </a:rPr>
              <a:t>1.</a:t>
            </a:r>
            <a:r>
              <a:rPr lang="en-US" altLang="en-US" sz="2000" b="1" dirty="0">
                <a:latin typeface="Times New Roman" panose="02020603050405020304" pitchFamily="18" charset="0"/>
                <a:cs typeface="Times New Roman" panose="02020603050405020304" pitchFamily="18" charset="0"/>
              </a:rPr>
              <a:t>User Management Module</a:t>
            </a:r>
            <a:r>
              <a:rPr lang="en-IN" alt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Handles user registration, login, logout, and role-based authentication using Flask-Login.</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Manages user data within an SQLite database.</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Differentiates between admin and regular users for access control.</a:t>
            </a:r>
          </a:p>
          <a:p>
            <a:pPr indent="0" algn="just">
              <a:lnSpc>
                <a:spcPct val="150000"/>
              </a:lnSpc>
              <a:buFont typeface="Arial" panose="020B0604020202020204" pitchFamily="34" charset="0"/>
              <a:buNone/>
            </a:pPr>
            <a:r>
              <a:rPr lang="en-IN" altLang="en-US" b="1" dirty="0">
                <a:latin typeface="Times New Roman" panose="02020603050405020304" pitchFamily="18" charset="0"/>
                <a:cs typeface="Times New Roman" panose="02020603050405020304" pitchFamily="18" charset="0"/>
                <a:sym typeface="+mn-ea"/>
              </a:rPr>
              <a:t>2.</a:t>
            </a:r>
            <a:r>
              <a:rPr lang="en-US" altLang="en-US" sz="2000" b="1" dirty="0">
                <a:latin typeface="Times New Roman" panose="02020603050405020304" pitchFamily="18" charset="0"/>
                <a:cs typeface="Times New Roman" panose="02020603050405020304" pitchFamily="18" charset="0"/>
                <a:sym typeface="+mn-ea"/>
              </a:rPr>
              <a:t>Data Management Module</a:t>
            </a:r>
            <a:endParaRPr lang="en-US" altLang="en-US" b="1" dirty="0">
              <a:latin typeface="Times New Roman" panose="02020603050405020304" pitchFamily="18" charset="0"/>
              <a:cs typeface="Times New Roman" panose="02020603050405020304" pitchFamily="18" charset="0"/>
              <a:sym typeface="+mn-ea"/>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Manages uploading EEG CSV files securely.</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Loads and preprocesses EEG data for training and prediction, including handling missing values and feature selection.</a:t>
            </a:r>
            <a:endParaRPr lang="en-US" altLang="en-US"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endParaRPr lang="en-US" altLang="en-US" b="1"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846455" y="612775"/>
            <a:ext cx="9437370" cy="4766945"/>
          </a:xfrm>
          <a:prstGeom prst="rect">
            <a:avLst/>
          </a:prstGeom>
          <a:noFill/>
        </p:spPr>
        <p:txBody>
          <a:bodyPr wrap="square">
            <a:noAutofit/>
          </a:bodyPr>
          <a:lstStyle/>
          <a:p>
            <a:pPr algn="just">
              <a:lnSpc>
                <a:spcPct val="150000"/>
              </a:lnSpc>
              <a:buNone/>
            </a:pPr>
            <a:r>
              <a:rPr lang="en-IN" altLang="en-US" sz="2000" b="1" dirty="0">
                <a:latin typeface="Times New Roman" panose="02020603050405020304" pitchFamily="18" charset="0"/>
                <a:cs typeface="Times New Roman" panose="02020603050405020304" pitchFamily="18" charset="0"/>
              </a:rPr>
              <a:t>3.</a:t>
            </a:r>
            <a:r>
              <a:rPr lang="en-US" altLang="en-US" sz="2000" b="1" dirty="0">
                <a:latin typeface="Times New Roman" panose="02020603050405020304" pitchFamily="18" charset="0"/>
                <a:cs typeface="Times New Roman" panose="02020603050405020304" pitchFamily="18" charset="0"/>
              </a:rPr>
              <a:t>Machine Learning Module</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Implements multiple classifiers: Random Forest, SVM, Logistic Regression, Decision Tree, and Hybrid Graph Neural Network.</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Includes functions for training, model saving/loading, prediction, and evaluation metrics calculation.</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Supports both main and specific disorder classification tasks.</a:t>
            </a:r>
          </a:p>
          <a:p>
            <a:pPr algn="just">
              <a:lnSpc>
                <a:spcPct val="150000"/>
              </a:lnSpc>
              <a:buNone/>
            </a:pPr>
            <a:r>
              <a:rPr lang="en-IN" altLang="en-US" b="1" dirty="0">
                <a:latin typeface="Times New Roman" panose="02020603050405020304" pitchFamily="18" charset="0"/>
                <a:cs typeface="Times New Roman" panose="02020603050405020304" pitchFamily="18" charset="0"/>
                <a:sym typeface="+mn-ea"/>
              </a:rPr>
              <a:t>4.</a:t>
            </a:r>
            <a:r>
              <a:rPr lang="en-US" altLang="en-US" sz="2000" b="1" dirty="0">
                <a:latin typeface="Times New Roman" panose="02020603050405020304" pitchFamily="18" charset="0"/>
                <a:cs typeface="Times New Roman" panose="02020603050405020304" pitchFamily="18" charset="0"/>
                <a:sym typeface="+mn-ea"/>
              </a:rPr>
              <a:t>Exploratory Data Analysis (EDA) Module</a:t>
            </a:r>
            <a:endParaRPr lang="en-US" alt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Provides statistical summaries and feature insights of the EEG dataset.</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Renders EDA results accessible primarily to admin users.</a:t>
            </a:r>
            <a:r>
              <a:rPr lang="en-US" dirty="0">
                <a:latin typeface="Times New Roman" panose="02020603050405020304" pitchFamily="18" charset="0"/>
                <a:cs typeface="Times New Roman" panose="02020603050405020304" pitchFamily="18" charset="0"/>
                <a:sym typeface="+mn-ea"/>
              </a:rPr>
              <a:t>.</a:t>
            </a:r>
          </a:p>
          <a:p>
            <a:pPr algn="just">
              <a:lnSpc>
                <a:spcPct val="150000"/>
              </a:lnSpc>
              <a:buNone/>
            </a:pPr>
            <a:r>
              <a:rPr lang="en-IN" altLang="en-US" b="1" dirty="0">
                <a:latin typeface="Times New Roman" panose="02020603050405020304" pitchFamily="18" charset="0"/>
                <a:cs typeface="Times New Roman" panose="02020603050405020304" pitchFamily="18" charset="0"/>
                <a:sym typeface="+mn-ea"/>
              </a:rPr>
              <a:t>5.</a:t>
            </a:r>
            <a:r>
              <a:rPr lang="en-US" altLang="en-US" b="1" dirty="0">
                <a:latin typeface="Times New Roman" panose="02020603050405020304" pitchFamily="18" charset="0"/>
                <a:cs typeface="Times New Roman" panose="02020603050405020304" pitchFamily="18" charset="0"/>
                <a:sym typeface="+mn-ea"/>
              </a:rPr>
              <a:t>Pr</a:t>
            </a:r>
            <a:r>
              <a:rPr lang="en-US" altLang="en-US" sz="2000" b="1" dirty="0">
                <a:latin typeface="Times New Roman" panose="02020603050405020304" pitchFamily="18" charset="0"/>
                <a:cs typeface="Times New Roman" panose="02020603050405020304" pitchFamily="18" charset="0"/>
                <a:sym typeface="+mn-ea"/>
              </a:rPr>
              <a:t>ediction Module</a:t>
            </a:r>
            <a:endParaRPr lang="en-US" alt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Allows regular users to upload EEG data CSVs and get classification predictions.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Integrates with pre-trained models and provides user-friendly prediction results.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3290" y="1594485"/>
            <a:ext cx="10515600" cy="4911725"/>
          </a:xfrm>
        </p:spPr>
        <p:txBody>
          <a:bodyPr/>
          <a:lstStyle/>
          <a:p>
            <a:pPr marL="0" indent="0">
              <a:buNone/>
            </a:pPr>
            <a:r>
              <a:rPr lang="en-IN" altLang="en-US" sz="2000" b="1">
                <a:latin typeface="Times New Roman" panose="02020603050405020304" pitchFamily="18" charset="0"/>
                <a:cs typeface="Times New Roman" panose="02020603050405020304" pitchFamily="18" charset="0"/>
              </a:rPr>
              <a:t>6.</a:t>
            </a:r>
            <a:r>
              <a:rPr lang="en-US" altLang="en-US" sz="2000" b="1">
                <a:latin typeface="Times New Roman" panose="02020603050405020304" pitchFamily="18" charset="0"/>
                <a:cs typeface="Times New Roman" panose="02020603050405020304" pitchFamily="18" charset="0"/>
              </a:rPr>
              <a:t>Performance Comparison Module</a:t>
            </a:r>
            <a:r>
              <a:rPr lang="en-IN" altLang="en-US" sz="2000" b="1">
                <a:latin typeface="Times New Roman" panose="02020603050405020304" pitchFamily="18" charset="0"/>
                <a:cs typeface="Times New Roman" panose="02020603050405020304" pitchFamily="18" charset="0"/>
              </a:rPr>
              <a:t>:</a:t>
            </a:r>
          </a:p>
          <a:p>
            <a:r>
              <a:rPr lang="en-US" altLang="en-US" sz="1800">
                <a:latin typeface="Times New Roman" panose="02020603050405020304" pitchFamily="18" charset="0"/>
                <a:cs typeface="Times New Roman" panose="02020603050405020304" pitchFamily="18" charset="0"/>
              </a:rPr>
              <a:t>Compares classifier performance across disorders.</a:t>
            </a:r>
          </a:p>
          <a:p>
            <a:r>
              <a:rPr lang="en-US" altLang="en-US" sz="1800">
                <a:latin typeface="Times New Roman" panose="02020603050405020304" pitchFamily="18" charset="0"/>
                <a:cs typeface="Times New Roman" panose="02020603050405020304" pitchFamily="18" charset="0"/>
              </a:rPr>
              <a:t>Displays accuracy, precision, recall, F1 score, confusion matrices, and classification reports for each model.</a:t>
            </a:r>
          </a:p>
          <a:p>
            <a:endParaRPr lang="en-US" altLang="en-US" sz="1800">
              <a:latin typeface="Times New Roman" panose="02020603050405020304" pitchFamily="18" charset="0"/>
              <a:cs typeface="Times New Roman" panose="02020603050405020304" pitchFamily="18" charset="0"/>
            </a:endParaRPr>
          </a:p>
          <a:p>
            <a:pPr marL="0" indent="0">
              <a:buNone/>
            </a:pPr>
            <a:r>
              <a:rPr lang="en-IN" altLang="en-US" sz="2000" b="1">
                <a:latin typeface="Times New Roman" panose="02020603050405020304" pitchFamily="18" charset="0"/>
                <a:cs typeface="Times New Roman" panose="02020603050405020304" pitchFamily="18" charset="0"/>
                <a:sym typeface="+mn-ea"/>
              </a:rPr>
              <a:t>7.</a:t>
            </a:r>
            <a:r>
              <a:rPr lang="en-US" altLang="en-US" sz="2000" b="1">
                <a:latin typeface="Times New Roman" panose="02020603050405020304" pitchFamily="18" charset="0"/>
                <a:cs typeface="Times New Roman" panose="02020603050405020304" pitchFamily="18" charset="0"/>
                <a:sym typeface="+mn-ea"/>
              </a:rPr>
              <a:t>Web Interface Module</a:t>
            </a:r>
            <a:r>
              <a:rPr lang="en-IN" altLang="en-US" sz="2000" b="1">
                <a:latin typeface="Times New Roman" panose="02020603050405020304" pitchFamily="18" charset="0"/>
                <a:cs typeface="Times New Roman" panose="02020603050405020304" pitchFamily="18" charset="0"/>
                <a:sym typeface="+mn-ea"/>
              </a:rPr>
              <a:t>:</a:t>
            </a:r>
            <a:endParaRPr lang="en-US" altLang="en-US" sz="2000" b="1">
              <a:latin typeface="Times New Roman" panose="02020603050405020304" pitchFamily="18" charset="0"/>
              <a:cs typeface="Times New Roman" panose="02020603050405020304" pitchFamily="18" charset="0"/>
            </a:endParaRPr>
          </a:p>
          <a:p>
            <a:r>
              <a:rPr lang="en-IN" altLang="en-US" sz="1800">
                <a:latin typeface="Times New Roman" panose="02020603050405020304" pitchFamily="18" charset="0"/>
                <a:cs typeface="Times New Roman" panose="02020603050405020304" pitchFamily="18" charset="0"/>
                <a:sym typeface="+mn-ea"/>
              </a:rPr>
              <a:t>I</a:t>
            </a:r>
            <a:r>
              <a:rPr lang="en-US" altLang="en-US" sz="1800">
                <a:latin typeface="Times New Roman" panose="02020603050405020304" pitchFamily="18" charset="0"/>
                <a:cs typeface="Times New Roman" panose="02020603050405020304" pitchFamily="18" charset="0"/>
                <a:sym typeface="+mn-ea"/>
              </a:rPr>
              <a:t>mplements Flask routes and associated HTML templates for interaction.</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sym typeface="+mn-ea"/>
              </a:rPr>
              <a:t>Provides pages for registration, login, home, EDA, classification selection, prediction, and results display.</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sym typeface="+mn-ea"/>
              </a:rPr>
              <a:t>Uses flash messages for user feedback.</a:t>
            </a:r>
            <a:endParaRPr lang="en-US" altLang="en-US" sz="1800">
              <a:latin typeface="Times New Roman" panose="02020603050405020304" pitchFamily="18" charset="0"/>
              <a:cs typeface="Times New Roman" panose="02020603050405020304" pitchFamily="18" charset="0"/>
            </a:endParaRPr>
          </a:p>
          <a:p>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1607" y="1323436"/>
            <a:ext cx="9169687" cy="5239413"/>
          </a:xfrm>
          <a:prstGeom prst="rect">
            <a:avLst/>
          </a:prstGeom>
          <a:noFill/>
          <a:ln>
            <a:noFill/>
          </a:ln>
        </p:spPr>
      </p:pic>
      <p:sp>
        <p:nvSpPr>
          <p:cNvPr id="5" name="TextBox 4"/>
          <p:cNvSpPr txBox="1"/>
          <p:nvPr/>
        </p:nvSpPr>
        <p:spPr>
          <a:xfrm>
            <a:off x="428262" y="1481559"/>
            <a:ext cx="3333509"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CLASS DIAGRAM:</a:t>
            </a:r>
          </a:p>
        </p:txBody>
      </p:sp>
      <p:grpSp>
        <p:nvGrpSpPr>
          <p:cNvPr id="3" name="Group 5"/>
          <p:cNvGrpSpPr/>
          <p:nvPr/>
        </p:nvGrpSpPr>
        <p:grpSpPr>
          <a:xfrm>
            <a:off x="3446145" y="293801"/>
            <a:ext cx="5793105" cy="793321"/>
            <a:chOff x="0" y="0"/>
            <a:chExt cx="2654143" cy="501493"/>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130"/>
              <a:ext cx="2654143" cy="501363"/>
            </a:xfrm>
            <a:prstGeom prst="rect">
              <a:avLst/>
            </a:prstGeom>
            <a:grpFill/>
          </p:spPr>
          <p:txBody>
            <a:bodyPr lIns="33867" tIns="33867" rIns="33867" bIns="33867" rtlCol="0" anchor="ctr"/>
            <a:lstStyle/>
            <a:p>
              <a:pPr algn="ctr">
                <a:lnSpc>
                  <a:spcPts val="1775"/>
                </a:lnSpc>
                <a:spcBef>
                  <a:spcPct val="0"/>
                </a:spcBef>
              </a:pPr>
              <a:endParaRPr lang="en-IN" altLang="en-US" sz="2800" b="1">
                <a:latin typeface="Times New Roman" panose="02020603050405020304" pitchFamily="18" charset="0"/>
                <a:cs typeface="Times New Roman" panose="02020603050405020304" pitchFamily="18" charset="0"/>
                <a:sym typeface="+mn-ea"/>
              </a:endParaRPr>
            </a:p>
            <a:p>
              <a:pPr algn="ctr">
                <a:lnSpc>
                  <a:spcPts val="1775"/>
                </a:lnSpc>
                <a:spcBef>
                  <a:spcPct val="0"/>
                </a:spcBef>
              </a:pPr>
              <a:endParaRPr lang="en-IN" altLang="en-US" sz="2800" b="1">
                <a:latin typeface="Times New Roman" panose="02020603050405020304" pitchFamily="18" charset="0"/>
                <a:cs typeface="Times New Roman" panose="02020603050405020304" pitchFamily="18" charset="0"/>
                <a:sym typeface="+mn-ea"/>
              </a:endParaRPr>
            </a:p>
            <a:p>
              <a:pPr algn="ctr">
                <a:lnSpc>
                  <a:spcPts val="1775"/>
                </a:lnSpc>
                <a:spcBef>
                  <a:spcPct val="0"/>
                </a:spcBef>
              </a:pPr>
              <a:r>
                <a:rPr lang="en-IN" altLang="en-US" sz="2800" b="1">
                  <a:latin typeface="Times New Roman" panose="02020603050405020304" pitchFamily="18" charset="0"/>
                  <a:cs typeface="Times New Roman" panose="02020603050405020304" pitchFamily="18" charset="0"/>
                  <a:sym typeface="+mn-ea"/>
                </a:rPr>
                <a:t>UML DIAGRAMS</a:t>
              </a:r>
              <a:endParaRPr lang="en-IN" altLang="en-US" sz="2800" b="1">
                <a:latin typeface="Times New Roman" panose="02020603050405020304" pitchFamily="18" charset="0"/>
                <a:cs typeface="Times New Roman" panose="02020603050405020304" pitchFamily="18" charset="0"/>
              </a:endParaRPr>
            </a:p>
            <a:p>
              <a:pPr algn="ctr">
                <a:lnSpc>
                  <a:spcPts val="1775"/>
                </a:lnSpc>
                <a:spcBef>
                  <a:spcPct val="0"/>
                </a:spcBef>
              </a:pPr>
              <a:endParaRPr lang="en-IN" altLang="en-US" sz="2800" b="1">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9603" y="-185195"/>
            <a:ext cx="3792794" cy="1325563"/>
          </a:xfrm>
        </p:spPr>
        <p:txBody>
          <a:bodyPr>
            <a:normAutofit/>
          </a:bodyPr>
          <a:lstStyle/>
          <a:p>
            <a:pPr>
              <a:lnSpc>
                <a:spcPct val="100000"/>
              </a:lnSpc>
            </a:pPr>
            <a:r>
              <a:rPr lang="en-IN" sz="3200" b="1" dirty="0">
                <a:latin typeface="Times New Roman" panose="02020603050405020304" pitchFamily="18" charset="0"/>
                <a:cs typeface="Times New Roman" panose="02020603050405020304" pitchFamily="18" charset="0"/>
              </a:rPr>
              <a:t>UML DIAGRAMS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64987" y="773723"/>
            <a:ext cx="4375230" cy="5520234"/>
          </a:xfrm>
          <a:prstGeom prst="rect">
            <a:avLst/>
          </a:prstGeom>
          <a:noFill/>
          <a:ln>
            <a:noFill/>
          </a:ln>
        </p:spPr>
      </p:pic>
      <p:sp>
        <p:nvSpPr>
          <p:cNvPr id="5" name="TextBox 4"/>
          <p:cNvSpPr txBox="1"/>
          <p:nvPr/>
        </p:nvSpPr>
        <p:spPr>
          <a:xfrm>
            <a:off x="405113" y="1308463"/>
            <a:ext cx="3889094"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USE CASE 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9611" y="249378"/>
            <a:ext cx="3652777" cy="1325563"/>
          </a:xfrm>
        </p:spPr>
        <p:txBody>
          <a:bodyPr>
            <a:normAutofit/>
          </a:bodyPr>
          <a:lstStyle/>
          <a:p>
            <a:r>
              <a:rPr lang="en-IN" sz="3200" b="1" dirty="0">
                <a:latin typeface="Times New Roman" panose="02020603050405020304" pitchFamily="18" charset="0"/>
                <a:cs typeface="Times New Roman" panose="02020603050405020304" pitchFamily="18" charset="0"/>
              </a:rPr>
              <a:t>UML DIAGRAMS</a:t>
            </a:r>
            <a:endParaRPr lang="en-IN"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1674" y="1836551"/>
            <a:ext cx="8120650" cy="4479308"/>
          </a:xfrm>
          <a:prstGeom prst="rect">
            <a:avLst/>
          </a:prstGeom>
          <a:noFill/>
          <a:ln>
            <a:noFill/>
          </a:ln>
        </p:spPr>
      </p:pic>
      <p:sp>
        <p:nvSpPr>
          <p:cNvPr id="5" name="TextBox 4"/>
          <p:cNvSpPr txBox="1"/>
          <p:nvPr/>
        </p:nvSpPr>
        <p:spPr>
          <a:xfrm>
            <a:off x="231493" y="1182526"/>
            <a:ext cx="4838219"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SEQUENCE DIAGRAM: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0123" y="203080"/>
            <a:ext cx="3571754" cy="1325563"/>
          </a:xfrm>
        </p:spPr>
        <p:txBody>
          <a:bodyPr>
            <a:normAutofit/>
          </a:bodyPr>
          <a:lstStyle/>
          <a:p>
            <a:r>
              <a:rPr lang="en-IN" sz="3200" b="1" dirty="0">
                <a:latin typeface="Times New Roman" panose="02020603050405020304" pitchFamily="18" charset="0"/>
                <a:cs typeface="Times New Roman" panose="02020603050405020304" pitchFamily="18" charset="0"/>
              </a:rPr>
              <a:t>UML DIAGRAMS</a:t>
            </a:r>
            <a:endParaRPr lang="en-IN"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75276" y="1726060"/>
            <a:ext cx="4641448" cy="4768247"/>
          </a:xfrm>
          <a:prstGeom prst="rect">
            <a:avLst/>
          </a:prstGeom>
          <a:noFill/>
          <a:ln>
            <a:noFill/>
          </a:ln>
        </p:spPr>
      </p:pic>
      <p:sp>
        <p:nvSpPr>
          <p:cNvPr id="5" name="TextBox 4"/>
          <p:cNvSpPr txBox="1"/>
          <p:nvPr/>
        </p:nvSpPr>
        <p:spPr>
          <a:xfrm>
            <a:off x="335665" y="1202840"/>
            <a:ext cx="4190035"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ACTIVITY DIAGRAM: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1777" y="2737128"/>
            <a:ext cx="10515600" cy="3344252"/>
          </a:xfrm>
        </p:spPr>
        <p:txBody>
          <a:bodyPr>
            <a:normAutofit/>
          </a:bodyPr>
          <a:lstStyle/>
          <a:p>
            <a:pPr marL="0" indent="0">
              <a:buNone/>
            </a:pPr>
            <a:r>
              <a:rPr lang="en-US" altLang="en-US" sz="2000" dirty="0">
                <a:latin typeface="Times New Roman" panose="02020603050405020304" pitchFamily="18" charset="0"/>
                <a:cs typeface="Times New Roman" panose="02020603050405020304" pitchFamily="18" charset="0"/>
              </a:rPr>
              <a:t>user = </a:t>
            </a:r>
            <a:r>
              <a:rPr lang="en-US" altLang="en-US" sz="2000" dirty="0" err="1">
                <a:latin typeface="Times New Roman" panose="02020603050405020304" pitchFamily="18" charset="0"/>
                <a:cs typeface="Times New Roman" panose="02020603050405020304" pitchFamily="18" charset="0"/>
              </a:rPr>
              <a:t>User.get_by_email</a:t>
            </a:r>
            <a:r>
              <a:rPr lang="en-US" altLang="en-US" sz="2000" dirty="0">
                <a:latin typeface="Times New Roman" panose="02020603050405020304" pitchFamily="18" charset="0"/>
                <a:cs typeface="Times New Roman" panose="02020603050405020304" pitchFamily="18" charset="0"/>
              </a:rPr>
              <a:t>(email)</a:t>
            </a:r>
          </a:p>
          <a:p>
            <a:pPr marL="0" indent="0">
              <a:buNone/>
            </a:pPr>
            <a:r>
              <a:rPr lang="en-US" altLang="en-US" sz="2000" dirty="0">
                <a:latin typeface="Times New Roman" panose="02020603050405020304" pitchFamily="18" charset="0"/>
                <a:cs typeface="Times New Roman" panose="02020603050405020304" pitchFamily="18" charset="0"/>
              </a:rPr>
              <a:t>if user and </a:t>
            </a:r>
            <a:r>
              <a:rPr lang="en-US" altLang="en-US" sz="2000" dirty="0" err="1">
                <a:latin typeface="Times New Roman" panose="02020603050405020304" pitchFamily="18" charset="0"/>
                <a:cs typeface="Times New Roman" panose="02020603050405020304" pitchFamily="18" charset="0"/>
              </a:rPr>
              <a:t>user.check_password</a:t>
            </a:r>
            <a:r>
              <a:rPr lang="en-US" altLang="en-US" sz="2000" dirty="0">
                <a:latin typeface="Times New Roman" panose="02020603050405020304" pitchFamily="18" charset="0"/>
                <a:cs typeface="Times New Roman" panose="02020603050405020304" pitchFamily="18" charset="0"/>
              </a:rPr>
              <a:t>(password):</a:t>
            </a:r>
          </a:p>
          <a:p>
            <a:pPr marL="0" indent="0">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login_user</a:t>
            </a:r>
            <a:r>
              <a:rPr lang="en-US" altLang="en-US" sz="2000" dirty="0">
                <a:latin typeface="Times New Roman" panose="02020603050405020304" pitchFamily="18" charset="0"/>
                <a:cs typeface="Times New Roman" panose="02020603050405020304" pitchFamily="18" charset="0"/>
              </a:rPr>
              <a:t>(user)</a:t>
            </a:r>
          </a:p>
          <a:p>
            <a:pPr marL="0" indent="0">
              <a:buNone/>
            </a:pPr>
            <a:r>
              <a:rPr lang="en-US" altLang="en-US" sz="2000" dirty="0">
                <a:latin typeface="Times New Roman" panose="02020603050405020304" pitchFamily="18" charset="0"/>
                <a:cs typeface="Times New Roman" panose="02020603050405020304" pitchFamily="18" charset="0"/>
              </a:rPr>
              <a:t>    flash('Login successful!', 'success')</a:t>
            </a:r>
          </a:p>
          <a:p>
            <a:pPr marL="0" indent="0">
              <a:buNone/>
            </a:pPr>
            <a:r>
              <a:rPr lang="en-US" altLang="en-US" sz="2000" dirty="0">
                <a:latin typeface="Times New Roman" panose="02020603050405020304" pitchFamily="18" charset="0"/>
                <a:cs typeface="Times New Roman" panose="02020603050405020304" pitchFamily="18" charset="0"/>
              </a:rPr>
              <a:t>    return redirect(</a:t>
            </a:r>
            <a:r>
              <a:rPr lang="en-US" altLang="en-US" sz="2000" dirty="0" err="1">
                <a:latin typeface="Times New Roman" panose="02020603050405020304" pitchFamily="18" charset="0"/>
                <a:cs typeface="Times New Roman" panose="02020603050405020304" pitchFamily="18" charset="0"/>
              </a:rPr>
              <a:t>url_for</a:t>
            </a:r>
            <a:r>
              <a:rPr lang="en-US" altLang="en-US" sz="2000" dirty="0">
                <a:latin typeface="Times New Roman" panose="02020603050405020304" pitchFamily="18" charset="0"/>
                <a:cs typeface="Times New Roman" panose="02020603050405020304" pitchFamily="18" charset="0"/>
              </a:rPr>
              <a:t>('home'))</a:t>
            </a:r>
          </a:p>
          <a:p>
            <a:pPr marL="0" indent="0">
              <a:buNone/>
            </a:pPr>
            <a:r>
              <a:rPr lang="en-US" altLang="en-US" sz="2000" dirty="0">
                <a:latin typeface="Times New Roman" panose="02020603050405020304" pitchFamily="18" charset="0"/>
                <a:cs typeface="Times New Roman" panose="02020603050405020304" pitchFamily="18" charset="0"/>
              </a:rPr>
              <a:t>else:</a:t>
            </a:r>
          </a:p>
          <a:p>
            <a:pPr marL="0" indent="0">
              <a:buNone/>
            </a:pPr>
            <a:r>
              <a:rPr lang="en-US" altLang="en-US" sz="2000" dirty="0">
                <a:latin typeface="Times New Roman" panose="02020603050405020304" pitchFamily="18" charset="0"/>
                <a:cs typeface="Times New Roman" panose="02020603050405020304" pitchFamily="18" charset="0"/>
              </a:rPr>
              <a:t>    flash('Invalid email or password!', 'danger')</a:t>
            </a:r>
          </a:p>
        </p:txBody>
      </p:sp>
      <p:sp>
        <p:nvSpPr>
          <p:cNvPr id="4" name="TextBox 3"/>
          <p:cNvSpPr txBox="1"/>
          <p:nvPr/>
        </p:nvSpPr>
        <p:spPr>
          <a:xfrm>
            <a:off x="615461" y="1952298"/>
            <a:ext cx="8440616" cy="52197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a:t>
            </a:r>
            <a:r>
              <a:rPr lang="en-US" sz="2800" b="1" dirty="0">
                <a:latin typeface="Times New Roman" panose="02020603050405020304" pitchFamily="18" charset="0"/>
                <a:cs typeface="Times New Roman" panose="02020603050405020304" pitchFamily="18" charset="0"/>
              </a:rPr>
              <a:t> Login Authentication</a:t>
            </a:r>
            <a:endParaRPr lang="en-IN" sz="2800" b="1" dirty="0">
              <a:latin typeface="Times New Roman" panose="02020603050405020304" pitchFamily="18" charset="0"/>
              <a:cs typeface="Times New Roman" panose="02020603050405020304" pitchFamily="18" charset="0"/>
            </a:endParaRPr>
          </a:p>
        </p:txBody>
      </p:sp>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8" name="Text Box 7"/>
          <p:cNvSpPr txBox="1"/>
          <p:nvPr/>
        </p:nvSpPr>
        <p:spPr>
          <a:xfrm>
            <a:off x="4293870" y="796925"/>
            <a:ext cx="5041265" cy="645160"/>
          </a:xfrm>
          <a:prstGeom prst="rect">
            <a:avLst/>
          </a:prstGeom>
          <a:noFill/>
        </p:spPr>
        <p:txBody>
          <a:bodyPr wrap="square" rtlCol="0">
            <a:spAutoFit/>
          </a:bodyPr>
          <a:lstStyle/>
          <a:p>
            <a:r>
              <a:rPr lang="en-IN" altLang="en-US" sz="3600" b="1">
                <a:latin typeface="Times New Roman" panose="02020603050405020304" pitchFamily="18" charset="0"/>
                <a:cs typeface="Times New Roman" panose="02020603050405020304" pitchFamily="18" charset="0"/>
              </a:rPr>
              <a:t>SOURCE CODE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1969" y="2457400"/>
            <a:ext cx="10515600" cy="3741176"/>
          </a:xfrm>
        </p:spPr>
        <p:txBody>
          <a:bodyPr>
            <a:normAutofit fontScale="97500"/>
          </a:bodyPr>
          <a:lstStyle/>
          <a:p>
            <a:pPr marL="0" indent="0">
              <a:buNone/>
            </a:pPr>
            <a:r>
              <a:rPr lang="en-US" altLang="en-US" sz="2000" dirty="0">
                <a:latin typeface="Times New Roman" panose="02020603050405020304" pitchFamily="18" charset="0"/>
                <a:cs typeface="Times New Roman" panose="02020603050405020304" pitchFamily="18" charset="0"/>
              </a:rPr>
              <a:t>def </a:t>
            </a:r>
            <a:r>
              <a:rPr lang="en-US" altLang="en-US" sz="2000" dirty="0" err="1">
                <a:latin typeface="Times New Roman" panose="02020603050405020304" pitchFamily="18" charset="0"/>
                <a:cs typeface="Times New Roman" panose="02020603050405020304" pitchFamily="18" charset="0"/>
              </a:rPr>
              <a:t>admin_required</a:t>
            </a:r>
            <a:r>
              <a:rPr lang="en-US" altLang="en-US" sz="2000" dirty="0">
                <a:latin typeface="Times New Roman" panose="02020603050405020304" pitchFamily="18" charset="0"/>
                <a:cs typeface="Times New Roman" panose="02020603050405020304" pitchFamily="18" charset="0"/>
              </a:rPr>
              <a:t>(f):</a:t>
            </a:r>
          </a:p>
          <a:p>
            <a:pPr marL="0" indent="0">
              <a:buNone/>
            </a:pPr>
            <a:r>
              <a:rPr lang="en-US" altLang="en-US" sz="2000" dirty="0">
                <a:latin typeface="Times New Roman" panose="02020603050405020304" pitchFamily="18" charset="0"/>
                <a:cs typeface="Times New Roman" panose="02020603050405020304" pitchFamily="18" charset="0"/>
              </a:rPr>
              <a:t>    @wraps(f)</a:t>
            </a:r>
          </a:p>
          <a:p>
            <a:pPr marL="0" indent="0">
              <a:buNone/>
            </a:pPr>
            <a:r>
              <a:rPr lang="en-US" altLang="en-US" sz="2000" dirty="0">
                <a:latin typeface="Times New Roman" panose="02020603050405020304" pitchFamily="18" charset="0"/>
                <a:cs typeface="Times New Roman" panose="02020603050405020304" pitchFamily="18" charset="0"/>
              </a:rPr>
              <a:t>    def </a:t>
            </a:r>
            <a:r>
              <a:rPr lang="en-US" altLang="en-US" sz="2000" dirty="0" err="1">
                <a:latin typeface="Times New Roman" panose="02020603050405020304" pitchFamily="18" charset="0"/>
                <a:cs typeface="Times New Roman" panose="02020603050405020304" pitchFamily="18" charset="0"/>
              </a:rPr>
              <a:t>decorated_function</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args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kwargs</a:t>
            </a:r>
            <a:r>
              <a:rPr lang="en-US" altLang="en-US" sz="2000" dirty="0">
                <a:latin typeface="Times New Roman" panose="02020603050405020304" pitchFamily="18" charset="0"/>
                <a:cs typeface="Times New Roman" panose="02020603050405020304" pitchFamily="18" charset="0"/>
              </a:rPr>
              <a:t>):</a:t>
            </a:r>
          </a:p>
          <a:p>
            <a:pPr marL="0" indent="0">
              <a:buNone/>
            </a:pPr>
            <a:r>
              <a:rPr lang="en-US" altLang="en-US" sz="2000" dirty="0">
                <a:latin typeface="Times New Roman" panose="02020603050405020304" pitchFamily="18" charset="0"/>
                <a:cs typeface="Times New Roman" panose="02020603050405020304" pitchFamily="18" charset="0"/>
              </a:rPr>
              <a:t>        if not </a:t>
            </a:r>
            <a:r>
              <a:rPr lang="en-US" altLang="en-US" sz="2000" dirty="0" err="1">
                <a:latin typeface="Times New Roman" panose="02020603050405020304" pitchFamily="18" charset="0"/>
                <a:cs typeface="Times New Roman" panose="02020603050405020304" pitchFamily="18" charset="0"/>
              </a:rPr>
              <a:t>current_user.is_authenticated</a:t>
            </a:r>
            <a:r>
              <a:rPr lang="en-US" altLang="en-US" sz="2000" dirty="0">
                <a:latin typeface="Times New Roman" panose="02020603050405020304" pitchFamily="18" charset="0"/>
                <a:cs typeface="Times New Roman" panose="02020603050405020304" pitchFamily="18" charset="0"/>
              </a:rPr>
              <a:t> or </a:t>
            </a:r>
            <a:r>
              <a:rPr lang="en-US" altLang="en-US" sz="2000" dirty="0" err="1">
                <a:latin typeface="Times New Roman" panose="02020603050405020304" pitchFamily="18" charset="0"/>
                <a:cs typeface="Times New Roman" panose="02020603050405020304" pitchFamily="18" charset="0"/>
              </a:rPr>
              <a:t>current_user.role</a:t>
            </a:r>
            <a:r>
              <a:rPr lang="en-US" altLang="en-US" sz="2000" dirty="0">
                <a:latin typeface="Times New Roman" panose="02020603050405020304" pitchFamily="18" charset="0"/>
                <a:cs typeface="Times New Roman" panose="02020603050405020304" pitchFamily="18" charset="0"/>
              </a:rPr>
              <a:t> != 'admin':</a:t>
            </a:r>
          </a:p>
          <a:p>
            <a:pPr marL="0" indent="0">
              <a:buNone/>
            </a:pPr>
            <a:r>
              <a:rPr lang="en-US" altLang="en-US" sz="2000" dirty="0">
                <a:latin typeface="Times New Roman" panose="02020603050405020304" pitchFamily="18" charset="0"/>
                <a:cs typeface="Times New Roman" panose="02020603050405020304" pitchFamily="18" charset="0"/>
              </a:rPr>
              <a:t>            flash('You need admin privileges to access this page.', 'danger')</a:t>
            </a:r>
          </a:p>
          <a:p>
            <a:pPr marL="0" indent="0">
              <a:buNone/>
            </a:pPr>
            <a:r>
              <a:rPr lang="en-US" altLang="en-US" sz="2000" dirty="0">
                <a:latin typeface="Times New Roman" panose="02020603050405020304" pitchFamily="18" charset="0"/>
                <a:cs typeface="Times New Roman" panose="02020603050405020304" pitchFamily="18" charset="0"/>
              </a:rPr>
              <a:t>            return redirect(</a:t>
            </a:r>
            <a:r>
              <a:rPr lang="en-US" altLang="en-US" sz="2000" dirty="0" err="1">
                <a:latin typeface="Times New Roman" panose="02020603050405020304" pitchFamily="18" charset="0"/>
                <a:cs typeface="Times New Roman" panose="02020603050405020304" pitchFamily="18" charset="0"/>
              </a:rPr>
              <a:t>url_for</a:t>
            </a:r>
            <a:r>
              <a:rPr lang="en-US" altLang="en-US" sz="2000" dirty="0">
                <a:latin typeface="Times New Roman" panose="02020603050405020304" pitchFamily="18" charset="0"/>
                <a:cs typeface="Times New Roman" panose="02020603050405020304" pitchFamily="18" charset="0"/>
              </a:rPr>
              <a:t>('home'))</a:t>
            </a:r>
          </a:p>
          <a:p>
            <a:pPr marL="0" indent="0">
              <a:buNone/>
            </a:pPr>
            <a:r>
              <a:rPr lang="en-US" altLang="en-US" sz="2000" dirty="0">
                <a:latin typeface="Times New Roman" panose="02020603050405020304" pitchFamily="18" charset="0"/>
                <a:cs typeface="Times New Roman" panose="02020603050405020304" pitchFamily="18" charset="0"/>
              </a:rPr>
              <a:t>        return f(*</a:t>
            </a:r>
            <a:r>
              <a:rPr lang="en-US" altLang="en-US" sz="2000" dirty="0" err="1">
                <a:latin typeface="Times New Roman" panose="02020603050405020304" pitchFamily="18" charset="0"/>
                <a:cs typeface="Times New Roman" panose="02020603050405020304" pitchFamily="18" charset="0"/>
              </a:rPr>
              <a:t>args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kwargs</a:t>
            </a:r>
            <a:r>
              <a:rPr lang="en-US" altLang="en-US" sz="2000" dirty="0">
                <a:latin typeface="Times New Roman" panose="02020603050405020304" pitchFamily="18" charset="0"/>
                <a:cs typeface="Times New Roman" panose="02020603050405020304" pitchFamily="18" charset="0"/>
              </a:rPr>
              <a:t>)</a:t>
            </a:r>
          </a:p>
          <a:p>
            <a:pPr marL="0" indent="0">
              <a:buNone/>
            </a:pPr>
            <a:r>
              <a:rPr lang="en-US" altLang="en-US" sz="2000" dirty="0">
                <a:latin typeface="Times New Roman" panose="02020603050405020304" pitchFamily="18" charset="0"/>
                <a:cs typeface="Times New Roman" panose="02020603050405020304" pitchFamily="18" charset="0"/>
              </a:rPr>
              <a:t>    return </a:t>
            </a:r>
            <a:r>
              <a:rPr lang="en-US" altLang="en-US" sz="2000" dirty="0" err="1">
                <a:latin typeface="Times New Roman" panose="02020603050405020304" pitchFamily="18" charset="0"/>
                <a:cs typeface="Times New Roman" panose="02020603050405020304" pitchFamily="18" charset="0"/>
              </a:rPr>
              <a:t>decorated_function</a:t>
            </a:r>
            <a:endParaRPr lang="en-US" altLang="en-US" sz="20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991707" y="941829"/>
            <a:ext cx="6523893" cy="629920"/>
          </a:xfrm>
          <a:prstGeom prst="rect">
            <a:avLst/>
          </a:prstGeom>
          <a:noFill/>
        </p:spPr>
        <p:txBody>
          <a:bodyPr wrap="square" rtlCol="0">
            <a:spAutoFit/>
          </a:bodyPr>
          <a:lstStyle/>
          <a:p>
            <a:r>
              <a:rPr lang="en-US" sz="3500" b="1" dirty="0">
                <a:latin typeface="Times New Roman" panose="02020603050405020304" pitchFamily="18" charset="0"/>
                <a:cs typeface="Times New Roman" panose="02020603050405020304" pitchFamily="18" charset="0"/>
              </a:rPr>
              <a:t>SOURCE CODE</a:t>
            </a:r>
            <a:endParaRPr lang="en-IN" sz="35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03384" y="1668896"/>
            <a:ext cx="4431323" cy="52197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2. Admin Access Control</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9554" y="2359949"/>
            <a:ext cx="10890738" cy="3073400"/>
          </a:xfrm>
        </p:spPr>
        <p:txBody>
          <a:bodyPr>
            <a:normAutofit fontScale="97500"/>
          </a:bodyPr>
          <a:lstStyle/>
          <a:p>
            <a:pPr marL="0" indent="0">
              <a:buNone/>
            </a:pPr>
            <a:r>
              <a:rPr lang="en-US" altLang="en-US" sz="2000" dirty="0" err="1">
                <a:latin typeface="Times New Roman" panose="02020603050405020304" pitchFamily="18" charset="0"/>
                <a:cs typeface="Times New Roman" panose="02020603050405020304" pitchFamily="18" charset="0"/>
              </a:rPr>
              <a:t>selected_classifiers</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request.form.getlist</a:t>
            </a:r>
            <a:r>
              <a:rPr lang="en-US" altLang="en-US" sz="2000" dirty="0">
                <a:latin typeface="Times New Roman" panose="02020603050405020304" pitchFamily="18" charset="0"/>
                <a:cs typeface="Times New Roman" panose="02020603050405020304" pitchFamily="18" charset="0"/>
              </a:rPr>
              <a:t>('classifiers')</a:t>
            </a:r>
          </a:p>
          <a:p>
            <a:pPr marL="0" indent="0">
              <a:buNone/>
            </a:pPr>
            <a:r>
              <a:rPr lang="en-US" altLang="en-US" sz="2000" dirty="0">
                <a:latin typeface="Times New Roman" panose="02020603050405020304" pitchFamily="18" charset="0"/>
                <a:cs typeface="Times New Roman" panose="02020603050405020304" pitchFamily="18" charset="0"/>
              </a:rPr>
              <a:t>if not </a:t>
            </a:r>
            <a:r>
              <a:rPr lang="en-US" altLang="en-US" sz="2000" dirty="0" err="1">
                <a:latin typeface="Times New Roman" panose="02020603050405020304" pitchFamily="18" charset="0"/>
                <a:cs typeface="Times New Roman" panose="02020603050405020304" pitchFamily="18" charset="0"/>
              </a:rPr>
              <a:t>selected_classifiers</a:t>
            </a:r>
            <a:r>
              <a:rPr lang="en-US" altLang="en-US" sz="2000" dirty="0">
                <a:latin typeface="Times New Roman" panose="02020603050405020304" pitchFamily="18" charset="0"/>
                <a:cs typeface="Times New Roman" panose="02020603050405020304" pitchFamily="18" charset="0"/>
              </a:rPr>
              <a:t>:</a:t>
            </a:r>
          </a:p>
          <a:p>
            <a:pPr marL="0" indent="0">
              <a:buNone/>
            </a:pPr>
            <a:r>
              <a:rPr lang="en-US" altLang="en-US" sz="2000" dirty="0">
                <a:latin typeface="Times New Roman" panose="02020603050405020304" pitchFamily="18" charset="0"/>
                <a:cs typeface="Times New Roman" panose="02020603050405020304" pitchFamily="18" charset="0"/>
              </a:rPr>
              <a:t>    flash('Please select at least one classifier!', 'warning’)</a:t>
            </a:r>
          </a:p>
          <a:p>
            <a:pPr marL="0" indent="0">
              <a:buNone/>
            </a:pPr>
            <a:r>
              <a:rPr lang="en-US" altLang="en-US" sz="2000" dirty="0">
                <a:latin typeface="Times New Roman" panose="02020603050405020304" pitchFamily="18" charset="0"/>
                <a:cs typeface="Times New Roman" panose="02020603050405020304" pitchFamily="18" charset="0"/>
              </a:rPr>
              <a:t>    return redirect(</a:t>
            </a:r>
            <a:r>
              <a:rPr lang="en-US" altLang="en-US" sz="2000" dirty="0" err="1">
                <a:latin typeface="Times New Roman" panose="02020603050405020304" pitchFamily="18" charset="0"/>
                <a:cs typeface="Times New Roman" panose="02020603050405020304" pitchFamily="18" charset="0"/>
              </a:rPr>
              <a:t>url_for</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main_disorder_classification</a:t>
            </a:r>
            <a:r>
              <a:rPr lang="en-US" altLang="en-US" sz="2000" dirty="0">
                <a:latin typeface="Times New Roman" panose="02020603050405020304" pitchFamily="18" charset="0"/>
                <a:cs typeface="Times New Roman" panose="02020603050405020304" pitchFamily="18" charset="0"/>
              </a:rPr>
              <a:t>’))</a:t>
            </a: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results = </a:t>
            </a:r>
            <a:r>
              <a:rPr lang="en-US" altLang="en-US" sz="2000" dirty="0" err="1">
                <a:latin typeface="Times New Roman" panose="02020603050405020304" pitchFamily="18" charset="0"/>
                <a:cs typeface="Times New Roman" panose="02020603050405020304" pitchFamily="18" charset="0"/>
              </a:rPr>
              <a:t>train_all_classifiers</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main.disorder</a:t>
            </a:r>
            <a:r>
              <a:rPr lang="en-US" altLang="en-US" sz="2000" dirty="0">
                <a:latin typeface="Times New Roman" panose="02020603050405020304" pitchFamily="18" charset="0"/>
                <a:cs typeface="Times New Roman" panose="02020603050405020304" pitchFamily="18" charset="0"/>
              </a:rPr>
              <a:t>')</a:t>
            </a:r>
          </a:p>
          <a:p>
            <a:pPr marL="0" indent="0">
              <a:buNone/>
            </a:pPr>
            <a:r>
              <a:rPr lang="en-US" altLang="en-US" sz="2000" dirty="0" err="1">
                <a:latin typeface="Times New Roman" panose="02020603050405020304" pitchFamily="18" charset="0"/>
                <a:cs typeface="Times New Roman" panose="02020603050405020304" pitchFamily="18" charset="0"/>
              </a:rPr>
              <a:t>filtered_results</a:t>
            </a:r>
            <a:r>
              <a:rPr lang="en-US" altLang="en-US" sz="2000" dirty="0">
                <a:latin typeface="Times New Roman" panose="02020603050405020304" pitchFamily="18" charset="0"/>
                <a:cs typeface="Times New Roman" panose="02020603050405020304" pitchFamily="18" charset="0"/>
              </a:rPr>
              <a:t> = {k: v for k, v in </a:t>
            </a:r>
            <a:r>
              <a:rPr lang="en-US" altLang="en-US" sz="2000" dirty="0" err="1">
                <a:latin typeface="Times New Roman" panose="02020603050405020304" pitchFamily="18" charset="0"/>
                <a:cs typeface="Times New Roman" panose="02020603050405020304" pitchFamily="18" charset="0"/>
              </a:rPr>
              <a:t>results.items</a:t>
            </a:r>
            <a:r>
              <a:rPr lang="en-US" altLang="en-US" sz="2000" dirty="0">
                <a:latin typeface="Times New Roman" panose="02020603050405020304" pitchFamily="18" charset="0"/>
                <a:cs typeface="Times New Roman" panose="02020603050405020304" pitchFamily="18" charset="0"/>
              </a:rPr>
              <a:t>() if k in </a:t>
            </a:r>
            <a:r>
              <a:rPr lang="en-US" altLang="en-US" sz="2000" dirty="0" err="1">
                <a:latin typeface="Times New Roman" panose="02020603050405020304" pitchFamily="18" charset="0"/>
                <a:cs typeface="Times New Roman" panose="02020603050405020304" pitchFamily="18" charset="0"/>
              </a:rPr>
              <a:t>selected_classifiers</a:t>
            </a:r>
            <a:r>
              <a:rPr lang="en-US" altLang="en-US" sz="2000" dirty="0">
                <a:latin typeface="Times New Roman" panose="02020603050405020304" pitchFamily="18" charset="0"/>
                <a:cs typeface="Times New Roman" panose="02020603050405020304" pitchFamily="18" charset="0"/>
              </a:rPr>
              <a:t>}</a:t>
            </a:r>
          </a:p>
        </p:txBody>
      </p:sp>
      <p:sp>
        <p:nvSpPr>
          <p:cNvPr id="2" name="TextBox 1"/>
          <p:cNvSpPr txBox="1"/>
          <p:nvPr/>
        </p:nvSpPr>
        <p:spPr>
          <a:xfrm>
            <a:off x="3453912" y="508901"/>
            <a:ext cx="5284176" cy="630942"/>
          </a:xfrm>
          <a:prstGeom prst="rect">
            <a:avLst/>
          </a:prstGeom>
          <a:noFill/>
        </p:spPr>
        <p:txBody>
          <a:bodyPr wrap="square" rtlCol="0">
            <a:spAutoFit/>
          </a:bodyPr>
          <a:lstStyle/>
          <a:p>
            <a:pPr algn="ctr"/>
            <a:r>
              <a:rPr lang="en-US" sz="3500" b="1" dirty="0">
                <a:latin typeface="Times New Roman" panose="02020603050405020304" pitchFamily="18" charset="0"/>
                <a:cs typeface="Times New Roman" panose="02020603050405020304" pitchFamily="18" charset="0"/>
              </a:rPr>
              <a:t>SOURCE CODE</a:t>
            </a:r>
            <a:endParaRPr lang="en-IN" sz="35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75372" y="1376391"/>
            <a:ext cx="4202723" cy="52197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3. Model Training Logic</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0054" y="2071810"/>
            <a:ext cx="9976338" cy="2974975"/>
          </a:xfrm>
        </p:spPr>
        <p:txBody>
          <a:bodyPr>
            <a:normAutofit/>
          </a:bodyPr>
          <a:lstStyle/>
          <a:p>
            <a:pPr marL="0" indent="0">
              <a:buNone/>
            </a:pPr>
            <a:r>
              <a:rPr lang="en-US" altLang="en-US" sz="2000" dirty="0">
                <a:latin typeface="Times New Roman" panose="02020603050405020304" pitchFamily="18" charset="0"/>
                <a:cs typeface="Times New Roman" panose="02020603050405020304" pitchFamily="18" charset="0"/>
              </a:rPr>
              <a:t>if file and </a:t>
            </a:r>
            <a:r>
              <a:rPr lang="en-US" altLang="en-US" sz="2000" dirty="0" err="1">
                <a:latin typeface="Times New Roman" panose="02020603050405020304" pitchFamily="18" charset="0"/>
                <a:cs typeface="Times New Roman" panose="02020603050405020304" pitchFamily="18" charset="0"/>
              </a:rPr>
              <a:t>file.filename.endswith</a:t>
            </a:r>
            <a:r>
              <a:rPr lang="en-US" altLang="en-US" sz="2000" dirty="0">
                <a:latin typeface="Times New Roman" panose="02020603050405020304" pitchFamily="18" charset="0"/>
                <a:cs typeface="Times New Roman" panose="02020603050405020304" pitchFamily="18" charset="0"/>
              </a:rPr>
              <a:t>('.csv’):</a:t>
            </a:r>
          </a:p>
          <a:p>
            <a:pPr marL="0" indent="0">
              <a:buNone/>
            </a:pPr>
            <a:r>
              <a:rPr lang="en-US" altLang="en-US" sz="2000" dirty="0">
                <a:latin typeface="Times New Roman" panose="02020603050405020304" pitchFamily="18" charset="0"/>
                <a:cs typeface="Times New Roman" panose="02020603050405020304" pitchFamily="18" charset="0"/>
              </a:rPr>
              <a:t>    filename = </a:t>
            </a:r>
            <a:r>
              <a:rPr lang="en-US" altLang="en-US" sz="2000" dirty="0" err="1">
                <a:latin typeface="Times New Roman" panose="02020603050405020304" pitchFamily="18" charset="0"/>
                <a:cs typeface="Times New Roman" panose="02020603050405020304" pitchFamily="18" charset="0"/>
              </a:rPr>
              <a:t>secure_filename</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file.filename</a:t>
            </a:r>
            <a:r>
              <a:rPr lang="en-US" altLang="en-US" sz="2000" dirty="0">
                <a:latin typeface="Times New Roman" panose="02020603050405020304" pitchFamily="18" charset="0"/>
                <a:cs typeface="Times New Roman" panose="02020603050405020304" pitchFamily="18" charset="0"/>
              </a:rPr>
              <a:t>)</a:t>
            </a:r>
          </a:p>
          <a:p>
            <a:pPr marL="0" indent="0">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filepath</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os.path.join</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app.config</a:t>
            </a:r>
            <a:r>
              <a:rPr lang="en-US" altLang="en-US" sz="2000" dirty="0">
                <a:latin typeface="Times New Roman" panose="02020603050405020304" pitchFamily="18" charset="0"/>
                <a:cs typeface="Times New Roman" panose="02020603050405020304" pitchFamily="18" charset="0"/>
              </a:rPr>
              <a:t>['UPLOAD_FOLDER'], filename)</a:t>
            </a:r>
          </a:p>
          <a:p>
            <a:pPr marL="0" indent="0">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file.save</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filepath</a:t>
            </a:r>
            <a:r>
              <a:rPr lang="en-US" altLang="en-US" sz="2000" dirty="0">
                <a:latin typeface="Times New Roman" panose="02020603050405020304" pitchFamily="18" charset="0"/>
                <a:cs typeface="Times New Roman" panose="02020603050405020304" pitchFamily="18" charset="0"/>
              </a:rPr>
              <a:t>)</a:t>
            </a:r>
          </a:p>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cs typeface="Times New Roman" panose="02020603050405020304" pitchFamily="18" charset="0"/>
              </a:rPr>
              <a:t>    predictions = </a:t>
            </a:r>
            <a:r>
              <a:rPr lang="en-US" altLang="en-US" sz="2000" dirty="0" err="1">
                <a:latin typeface="Times New Roman" panose="02020603050405020304" pitchFamily="18" charset="0"/>
                <a:cs typeface="Times New Roman" panose="02020603050405020304" pitchFamily="18" charset="0"/>
              </a:rPr>
              <a:t>predict_from_csv</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filepath</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target_column</a:t>
            </a:r>
            <a:r>
              <a:rPr lang="en-US" altLang="en-US" sz="2000" dirty="0">
                <a:latin typeface="Times New Roman" panose="02020603050405020304" pitchFamily="18" charset="0"/>
                <a:cs typeface="Times New Roman" panose="02020603050405020304" pitchFamily="18" charset="0"/>
              </a:rPr>
              <a:t>)</a:t>
            </a:r>
          </a:p>
          <a:p>
            <a:pPr marL="0" indent="0">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df_original</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pd.read_csv</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filepath</a:t>
            </a:r>
            <a:r>
              <a:rPr lang="en-US" altLang="en-US" sz="2000" dirty="0">
                <a:latin typeface="Times New Roman" panose="02020603050405020304" pitchFamily="18" charset="0"/>
                <a:cs typeface="Times New Roman" panose="02020603050405020304" pitchFamily="18" charset="0"/>
              </a:rPr>
              <a:t>)</a:t>
            </a:r>
          </a:p>
        </p:txBody>
      </p:sp>
      <p:sp>
        <p:nvSpPr>
          <p:cNvPr id="4" name="TextBox 3"/>
          <p:cNvSpPr txBox="1"/>
          <p:nvPr/>
        </p:nvSpPr>
        <p:spPr>
          <a:xfrm>
            <a:off x="3308838" y="369277"/>
            <a:ext cx="5574323" cy="630942"/>
          </a:xfrm>
          <a:prstGeom prst="rect">
            <a:avLst/>
          </a:prstGeom>
          <a:noFill/>
        </p:spPr>
        <p:txBody>
          <a:bodyPr wrap="square" rtlCol="0">
            <a:spAutoFit/>
          </a:bodyPr>
          <a:lstStyle/>
          <a:p>
            <a:pPr algn="ctr"/>
            <a:r>
              <a:rPr lang="en-US" sz="3500" b="1" dirty="0">
                <a:latin typeface="Times New Roman" panose="02020603050405020304" pitchFamily="18" charset="0"/>
                <a:cs typeface="Times New Roman" panose="02020603050405020304" pitchFamily="18" charset="0"/>
              </a:rPr>
              <a:t>SOURCE CODE</a:t>
            </a:r>
            <a:endParaRPr lang="en-IN" sz="35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16219" y="1107941"/>
            <a:ext cx="4985238" cy="52197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4. File upload + prediction</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904086" y="2565556"/>
            <a:ext cx="5805805" cy="3625215"/>
          </a:xfrm>
          <a:prstGeom prst="rect">
            <a:avLst/>
          </a:prstGeom>
          <a:noFill/>
          <a:ln w="9525">
            <a:noFill/>
          </a:ln>
        </p:spPr>
      </p:pic>
      <p:grpSp>
        <p:nvGrpSpPr>
          <p:cNvPr id="5" name="Group 5"/>
          <p:cNvGrpSpPr/>
          <p:nvPr/>
        </p:nvGrpSpPr>
        <p:grpSpPr>
          <a:xfrm>
            <a:off x="4280535" y="276954"/>
            <a:ext cx="3126740" cy="895985"/>
            <a:chOff x="0" y="-19050"/>
            <a:chExt cx="2109623" cy="4937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19050"/>
              <a:ext cx="2109623" cy="493798"/>
            </a:xfrm>
            <a:prstGeom prst="rect">
              <a:avLst/>
            </a:prstGeom>
            <a:grpFill/>
          </p:spPr>
          <p:txBody>
            <a:bodyPr lIns="33867" tIns="33867" rIns="33867" bIns="33867" rtlCol="0" anchor="ctr"/>
            <a:lstStyle/>
            <a:p>
              <a:pPr algn="ctr">
                <a:lnSpc>
                  <a:spcPts val="1775"/>
                </a:lnSpc>
                <a:spcBef>
                  <a:spcPct val="0"/>
                </a:spcBef>
              </a:pPr>
              <a:endParaRPr sz="1200" dirty="0"/>
            </a:p>
          </p:txBody>
        </p:sp>
      </p:grpSp>
      <p:sp>
        <p:nvSpPr>
          <p:cNvPr id="4" name="Title 3"/>
          <p:cNvSpPr>
            <a:spLocks noGrp="1"/>
          </p:cNvSpPr>
          <p:nvPr>
            <p:ph type="title"/>
          </p:nvPr>
        </p:nvSpPr>
        <p:spPr>
          <a:xfrm>
            <a:off x="731195" y="62164"/>
            <a:ext cx="10515600" cy="1325563"/>
          </a:xfrm>
        </p:spPr>
        <p:txBody>
          <a:bodyPr/>
          <a:lstStyle/>
          <a:p>
            <a:pPr algn="ctr"/>
            <a:r>
              <a:rPr lang="en-IN" altLang="en-US" b="1" dirty="0">
                <a:latin typeface="Times New Roman" panose="02020603050405020304" pitchFamily="18" charset="0"/>
                <a:cs typeface="Times New Roman" panose="02020603050405020304" pitchFamily="18" charset="0"/>
              </a:rPr>
              <a:t>RESULTS</a:t>
            </a:r>
          </a:p>
        </p:txBody>
      </p:sp>
      <p:sp>
        <p:nvSpPr>
          <p:cNvPr id="8" name="Text Box 7"/>
          <p:cNvSpPr txBox="1"/>
          <p:nvPr/>
        </p:nvSpPr>
        <p:spPr>
          <a:xfrm>
            <a:off x="7329454" y="2565556"/>
            <a:ext cx="4515094" cy="2861310"/>
          </a:xfrm>
          <a:prstGeom prst="rect">
            <a:avLst/>
          </a:prstGeom>
          <a:noFill/>
        </p:spPr>
        <p:txBody>
          <a:bodyPr wrap="square" rtlCol="0">
            <a:spAutoFit/>
          </a:bodyPr>
          <a:lstStyle/>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Admin dashboard serves as the central hub of the EEG Psychiatric Disorder Classification System.</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It highlights key features like multi-model classification, two-level prediction, and performance metrics.</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Provides quick access to data analysis, model training, evaluation, and comparison in one interface.</a:t>
            </a:r>
          </a:p>
        </p:txBody>
      </p:sp>
      <p:sp>
        <p:nvSpPr>
          <p:cNvPr id="3" name="TextBox 2">
            <a:extLst>
              <a:ext uri="{FF2B5EF4-FFF2-40B4-BE49-F238E27FC236}">
                <a16:creationId xmlns:a16="http://schemas.microsoft.com/office/drawing/2014/main" id="{37B6700E-F397-7D7F-3371-FCD1FA3689D8}"/>
              </a:ext>
            </a:extLst>
          </p:cNvPr>
          <p:cNvSpPr txBox="1"/>
          <p:nvPr/>
        </p:nvSpPr>
        <p:spPr>
          <a:xfrm>
            <a:off x="1303506" y="1527243"/>
            <a:ext cx="479249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Home page after admin login</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5988" y="77074"/>
            <a:ext cx="5460023" cy="1259865"/>
          </a:xfrm>
        </p:spPr>
        <p:txBody>
          <a:bodyPr>
            <a:normAutofit/>
          </a:bodyPr>
          <a:lstStyle/>
          <a:p>
            <a:pPr algn="ctr"/>
            <a:r>
              <a:rPr lang="en-US" sz="3500" b="1" dirty="0">
                <a:latin typeface="Times New Roman" panose="02020603050405020304" pitchFamily="18" charset="0"/>
                <a:cs typeface="Times New Roman" panose="02020603050405020304" pitchFamily="18" charset="0"/>
              </a:rPr>
              <a:t>RESULTS</a:t>
            </a:r>
          </a:p>
        </p:txBody>
      </p:sp>
      <p:pic>
        <p:nvPicPr>
          <p:cNvPr id="3" name="Picture 1"/>
          <p:cNvPicPr>
            <a:picLocks noGrp="1" noChangeAspect="1"/>
          </p:cNvPicPr>
          <p:nvPr>
            <p:ph idx="1"/>
          </p:nvPr>
        </p:nvPicPr>
        <p:blipFill>
          <a:blip r:embed="rId2"/>
          <a:stretch>
            <a:fillRect/>
          </a:stretch>
        </p:blipFill>
        <p:spPr>
          <a:xfrm>
            <a:off x="1023026" y="2307590"/>
            <a:ext cx="5999480" cy="4351655"/>
          </a:xfrm>
          <a:prstGeom prst="rect">
            <a:avLst/>
          </a:prstGeom>
          <a:noFill/>
          <a:ln w="9525">
            <a:noFill/>
          </a:ln>
        </p:spPr>
      </p:pic>
      <p:sp>
        <p:nvSpPr>
          <p:cNvPr id="4" name="Text Box 3"/>
          <p:cNvSpPr txBox="1"/>
          <p:nvPr/>
        </p:nvSpPr>
        <p:spPr>
          <a:xfrm>
            <a:off x="7257415" y="2307590"/>
            <a:ext cx="4096385" cy="2306955"/>
          </a:xfrm>
          <a:prstGeom prst="rect">
            <a:avLst/>
          </a:prstGeom>
        </p:spPr>
        <p:txBody>
          <a:bodyPr wrap="square">
            <a:spAutoFit/>
          </a:bodyPr>
          <a:lstStyle/>
          <a:p>
            <a:pPr marL="285750" indent="-285750" algn="just">
              <a:buFont typeface="Arial" panose="020B0604020202020204" pitchFamily="34" charset="0"/>
              <a:buChar char="•"/>
            </a:pPr>
            <a:r>
              <a:rPr sz="1600" dirty="0">
                <a:latin typeface="Times New Roman" panose="02020603050405020304" pitchFamily="18" charset="0"/>
                <a:cs typeface="Times New Roman" panose="02020603050405020304" pitchFamily="18" charset="0"/>
              </a:rPr>
              <a:t>Performance comparison page evaluates all models using Accuracy, Precision, Recall, and F1-Score.</a:t>
            </a:r>
          </a:p>
          <a:p>
            <a:pPr marL="285750" indent="-285750" algn="just">
              <a:buFont typeface="Arial" panose="020B0604020202020204" pitchFamily="34" charset="0"/>
              <a:buChar char="•"/>
            </a:pPr>
            <a:r>
              <a:rPr sz="1600" dirty="0">
                <a:latin typeface="Times New Roman" panose="02020603050405020304" pitchFamily="18" charset="0"/>
                <a:cs typeface="Times New Roman" panose="02020603050405020304" pitchFamily="18" charset="0"/>
              </a:rPr>
              <a:t> SVM and Logistic Regression show consistent performance, while Random Forest and Decision Tree perform lower.</a:t>
            </a:r>
          </a:p>
          <a:p>
            <a:pPr marL="285750" indent="-285750" algn="just">
              <a:buFont typeface="Arial" panose="020B0604020202020204" pitchFamily="34" charset="0"/>
              <a:buChar char="•"/>
            </a:pPr>
            <a:r>
              <a:rPr sz="1600" dirty="0">
                <a:latin typeface="Times New Roman" panose="02020603050405020304" pitchFamily="18" charset="0"/>
                <a:cs typeface="Times New Roman" panose="02020603050405020304" pitchFamily="18" charset="0"/>
              </a:rPr>
              <a:t> HGNN achieves perfect results, proving superior for accurate psychiatric disorder classification.</a:t>
            </a:r>
          </a:p>
        </p:txBody>
      </p:sp>
      <p:sp>
        <p:nvSpPr>
          <p:cNvPr id="5" name="TextBox 4">
            <a:extLst>
              <a:ext uri="{FF2B5EF4-FFF2-40B4-BE49-F238E27FC236}">
                <a16:creationId xmlns:a16="http://schemas.microsoft.com/office/drawing/2014/main" id="{92405350-3787-6D3B-3384-96F7A242A9C2}"/>
              </a:ext>
            </a:extLst>
          </p:cNvPr>
          <p:cNvSpPr txBox="1"/>
          <p:nvPr/>
        </p:nvSpPr>
        <p:spPr>
          <a:xfrm>
            <a:off x="603115" y="1118681"/>
            <a:ext cx="10418323"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Performance of classifiers for main disorder and specific disorder</a:t>
            </a:r>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8246" y="224448"/>
            <a:ext cx="3915508" cy="1325563"/>
          </a:xfrm>
        </p:spPr>
        <p:txBody>
          <a:bodyPr>
            <a:normAutofit/>
          </a:bodyPr>
          <a:lstStyle/>
          <a:p>
            <a:pPr algn="ctr"/>
            <a:r>
              <a:rPr lang="en-US" sz="3500" b="1" dirty="0">
                <a:latin typeface="Times New Roman" panose="02020603050405020304" pitchFamily="18" charset="0"/>
                <a:cs typeface="Times New Roman" panose="02020603050405020304" pitchFamily="18" charset="0"/>
              </a:rPr>
              <a:t>RESULTS</a:t>
            </a:r>
          </a:p>
        </p:txBody>
      </p:sp>
      <p:pic>
        <p:nvPicPr>
          <p:cNvPr id="3" name="Picture 1"/>
          <p:cNvPicPr>
            <a:picLocks noGrp="1" noChangeAspect="1"/>
          </p:cNvPicPr>
          <p:nvPr>
            <p:ph idx="1"/>
          </p:nvPr>
        </p:nvPicPr>
        <p:blipFill>
          <a:blip r:embed="rId2"/>
          <a:stretch>
            <a:fillRect/>
          </a:stretch>
        </p:blipFill>
        <p:spPr>
          <a:xfrm>
            <a:off x="1416782" y="2309006"/>
            <a:ext cx="4403090" cy="4425315"/>
          </a:xfrm>
          <a:prstGeom prst="rect">
            <a:avLst/>
          </a:prstGeom>
          <a:noFill/>
          <a:ln w="9525">
            <a:noFill/>
          </a:ln>
        </p:spPr>
      </p:pic>
      <p:sp>
        <p:nvSpPr>
          <p:cNvPr id="4" name="Text Box 3"/>
          <p:cNvSpPr txBox="1"/>
          <p:nvPr/>
        </p:nvSpPr>
        <p:spPr>
          <a:xfrm>
            <a:off x="6440853" y="2309006"/>
            <a:ext cx="5551854" cy="2553335"/>
          </a:xfrm>
          <a:prstGeom prst="rect">
            <a:avLst/>
          </a:prstGeom>
        </p:spPr>
        <p:txBody>
          <a:bodyPr wrap="square">
            <a:spAutoFit/>
          </a:bodyPr>
          <a:lstStyle/>
          <a:p>
            <a:pPr marL="342900" indent="-342900" algn="jus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HGNN model accurately classifies EEG samples into main psychiatric disorder categories.</a:t>
            </a:r>
          </a:p>
          <a:p>
            <a:pPr marL="342900" indent="-342900" algn="jus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 Predictions show clear differentiation between disorders like anxiety, mood, OCD, and healthy control.</a:t>
            </a:r>
          </a:p>
          <a:p>
            <a:pPr marL="342900" indent="-342900" algn="jus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 Consistent results highlight the model’s effectiveness for reliable main-level disorder identification.</a:t>
            </a:r>
          </a:p>
        </p:txBody>
      </p:sp>
      <p:sp>
        <p:nvSpPr>
          <p:cNvPr id="5" name="TextBox 4">
            <a:extLst>
              <a:ext uri="{FF2B5EF4-FFF2-40B4-BE49-F238E27FC236}">
                <a16:creationId xmlns:a16="http://schemas.microsoft.com/office/drawing/2014/main" id="{D49069C9-8203-2387-66BA-763A2FE1106F}"/>
              </a:ext>
            </a:extLst>
          </p:cNvPr>
          <p:cNvSpPr txBox="1"/>
          <p:nvPr/>
        </p:nvSpPr>
        <p:spPr>
          <a:xfrm>
            <a:off x="1313233" y="1254868"/>
            <a:ext cx="842415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Prediction obtained using HGNN on main disorder</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8255" y="127732"/>
            <a:ext cx="4038600" cy="1325563"/>
          </a:xfrm>
        </p:spPr>
        <p:txBody>
          <a:bodyPr>
            <a:normAutofit/>
          </a:bodyPr>
          <a:lstStyle/>
          <a:p>
            <a:pPr algn="ctr"/>
            <a:r>
              <a:rPr lang="en-US" sz="3500" b="1" dirty="0">
                <a:latin typeface="Times New Roman" panose="02020603050405020304" pitchFamily="18" charset="0"/>
                <a:cs typeface="Times New Roman" panose="02020603050405020304" pitchFamily="18" charset="0"/>
              </a:rPr>
              <a:t>RESULTS</a:t>
            </a:r>
          </a:p>
        </p:txBody>
      </p:sp>
      <p:pic>
        <p:nvPicPr>
          <p:cNvPr id="3" name="Picture 1"/>
          <p:cNvPicPr>
            <a:picLocks noGrp="1" noChangeAspect="1"/>
          </p:cNvPicPr>
          <p:nvPr>
            <p:ph idx="1"/>
          </p:nvPr>
        </p:nvPicPr>
        <p:blipFill>
          <a:blip r:embed="rId2"/>
          <a:stretch>
            <a:fillRect/>
          </a:stretch>
        </p:blipFill>
        <p:spPr>
          <a:xfrm>
            <a:off x="1520874" y="1667364"/>
            <a:ext cx="3190875" cy="4351655"/>
          </a:xfrm>
          <a:prstGeom prst="rect">
            <a:avLst/>
          </a:prstGeom>
          <a:noFill/>
          <a:ln w="9525">
            <a:noFill/>
          </a:ln>
        </p:spPr>
      </p:pic>
      <p:sp>
        <p:nvSpPr>
          <p:cNvPr id="4" name="Text Box 3"/>
          <p:cNvSpPr txBox="1"/>
          <p:nvPr/>
        </p:nvSpPr>
        <p:spPr>
          <a:xfrm>
            <a:off x="5696584" y="1280160"/>
            <a:ext cx="6025245" cy="3758768"/>
          </a:xfrm>
          <a:prstGeom prst="rect">
            <a:avLst/>
          </a:prstGeom>
        </p:spPr>
        <p:txBody>
          <a:bodyPr wrap="square">
            <a:noAutofit/>
          </a:bodyPr>
          <a:lstStyle/>
          <a:p>
            <a:pPr algn="just" defTabSz="266700">
              <a:lnSpc>
                <a:spcPct val="150000"/>
              </a:lnSpc>
              <a:spcAft>
                <a:spcPts val="800"/>
              </a:spcAft>
            </a:pPr>
            <a:r>
              <a:rPr lang="en-IN" dirty="0">
                <a:latin typeface="Times New Roman" panose="02020603050405020304"/>
                <a:ea typeface="Calibri" panose="020F0502020204030204"/>
              </a:rPr>
              <a:t> 	</a:t>
            </a:r>
            <a:r>
              <a:rPr dirty="0">
                <a:latin typeface="Times New Roman" panose="02020603050405020304"/>
                <a:ea typeface="Calibri" panose="020F0502020204030204"/>
              </a:rPr>
              <a:t>The figure  shows specific disorder prediction results obtained using the proposed Hybrid Graph Neural Network (HGNN) demonstrate the model’s capability to perform fine-grained psychiatric disorder classification from EEG features. Each EEG sample is classified into a precise disorder category such as depressive disorder, alcohol use disorder, social anxiety disorder, bipolar disorder, or healthy control. The consistent and coherent predictions across multiple samples indicate that the HGNN effectively captures subtle EEG signal variations associated with different psychiatric conditions. This output validates the effectiveness of the proposed model for detailed, specific-level psychiatric disorder identification.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99603"/>
            <a:ext cx="10515600" cy="1119798"/>
          </a:xfrm>
        </p:spPr>
        <p:txBody>
          <a:bodyPr>
            <a:noAutofit/>
          </a:bodyPr>
          <a:lstStyle/>
          <a:p>
            <a:pPr algn="just"/>
            <a:r>
              <a:rPr lang="en-US" sz="2000" dirty="0">
                <a:latin typeface="Times New Roman" panose="02020603050405020304" pitchFamily="18" charset="0"/>
                <a:cs typeface="Times New Roman" panose="02020603050405020304" pitchFamily="18" charset="0"/>
              </a:rPr>
              <a:t>The system enables automated psychiatric disorder detection using EEG data with multiple ML models and preprocessing techniques.</a:t>
            </a:r>
          </a:p>
          <a:p>
            <a:pPr algn="just"/>
            <a:r>
              <a:rPr lang="en-US" sz="2000" dirty="0">
                <a:latin typeface="Times New Roman" panose="02020603050405020304" pitchFamily="18" charset="0"/>
                <a:cs typeface="Times New Roman" panose="02020603050405020304" pitchFamily="18" charset="0"/>
              </a:rPr>
              <a:t>The proposed HGNN model achieves the highest accuracy, making the system reliable and effective for early diagnosis.</a:t>
            </a:r>
          </a:p>
        </p:txBody>
      </p:sp>
      <p:sp>
        <p:nvSpPr>
          <p:cNvPr id="4" name="TextBox 3"/>
          <p:cNvSpPr txBox="1"/>
          <p:nvPr/>
        </p:nvSpPr>
        <p:spPr>
          <a:xfrm>
            <a:off x="693127" y="3530401"/>
            <a:ext cx="772843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FUTURE ASPECTS</a:t>
            </a:r>
            <a:endParaRPr lang="en-IN" sz="28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93127" y="1169788"/>
            <a:ext cx="320333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38200" y="4290646"/>
            <a:ext cx="10433538"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work includes real-time EEG monitoring and integration of advanced models like CNNs, LSTMs, and Transformers.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can be expanded with personalization, cloud deployment, and mobile support for scalable remote diagnosis.</a:t>
            </a:r>
            <a:endParaRPr lang="en-IN" sz="2000" dirty="0">
              <a:latin typeface="Times New Roman" panose="02020603050405020304" pitchFamily="18" charset="0"/>
              <a:cs typeface="Times New Roman" panose="02020603050405020304" pitchFamily="18" charset="0"/>
            </a:endParaRPr>
          </a:p>
        </p:txBody>
      </p:sp>
      <p:grpSp>
        <p:nvGrpSpPr>
          <p:cNvPr id="7" name="Group 5"/>
          <p:cNvGrpSpPr/>
          <p:nvPr/>
        </p:nvGrpSpPr>
        <p:grpSpPr>
          <a:xfrm>
            <a:off x="1937385" y="271145"/>
            <a:ext cx="7753350" cy="582930"/>
            <a:chOff x="0" y="0"/>
            <a:chExt cx="2109623" cy="455698"/>
          </a:xfrm>
          <a:solidFill>
            <a:schemeClr val="tx2">
              <a:lumMod val="20000"/>
              <a:lumOff val="80000"/>
            </a:schemeClr>
          </a:solidFill>
        </p:grpSpPr>
        <p:sp>
          <p:nvSpPr>
            <p:cNvPr id="8"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9"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0" name="Text Box 9"/>
          <p:cNvSpPr txBox="1"/>
          <p:nvPr/>
        </p:nvSpPr>
        <p:spPr>
          <a:xfrm>
            <a:off x="1937385" y="222250"/>
            <a:ext cx="8178165" cy="107632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sym typeface="+mn-ea"/>
              </a:rPr>
              <a:t>CONCLUSION AND FUTURE ASPECTS</a:t>
            </a:r>
            <a:endParaRPr lang="en-IN" sz="32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5972" y="409087"/>
            <a:ext cx="4627685" cy="1325563"/>
          </a:xfrm>
        </p:spPr>
        <p:txBody>
          <a:bodyPr>
            <a:normAutofit/>
          </a:bodyPr>
          <a:lstStyle/>
          <a:p>
            <a:pPr algn="ctr"/>
            <a:r>
              <a:rPr lang="en-IN" altLang="en-US" sz="3500"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838200" y="1992679"/>
            <a:ext cx="10515600" cy="3625606"/>
          </a:xfrm>
        </p:spPr>
        <p:txBody>
          <a:bodyPr>
            <a:normAutofit/>
          </a:bodyPr>
          <a:lstStyle/>
          <a:p>
            <a:r>
              <a:rPr lang="en-US" altLang="en-US" sz="2000" dirty="0">
                <a:latin typeface="Times New Roman" panose="02020603050405020304" pitchFamily="18" charset="0"/>
                <a:cs typeface="Times New Roman" panose="02020603050405020304" pitchFamily="18" charset="0"/>
              </a:rPr>
              <a:t>[1].Li, S.; Zhou, W.; Yuan, Q.; Geng, S.; Cai, D. Feature extraction and recognition of ictal EEG using EMD and SVM. </a:t>
            </a:r>
            <a:r>
              <a:rPr lang="en-US" altLang="en-US" sz="2000" dirty="0" err="1">
                <a:latin typeface="Times New Roman" panose="02020603050405020304" pitchFamily="18" charset="0"/>
                <a:cs typeface="Times New Roman" panose="02020603050405020304" pitchFamily="18" charset="0"/>
              </a:rPr>
              <a:t>Comput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Biol.Med</a:t>
            </a:r>
            <a:r>
              <a:rPr lang="en-US" altLang="en-US" sz="2000" dirty="0">
                <a:latin typeface="Times New Roman" panose="02020603050405020304" pitchFamily="18" charset="0"/>
                <a:cs typeface="Times New Roman" panose="02020603050405020304" pitchFamily="18" charset="0"/>
              </a:rPr>
              <a:t>. 2013,43, 807–816. </a:t>
            </a:r>
          </a:p>
          <a:p>
            <a:r>
              <a:rPr lang="en-US" altLang="en-US" sz="2000" dirty="0">
                <a:latin typeface="Times New Roman" panose="02020603050405020304" pitchFamily="18" charset="0"/>
                <a:cs typeface="Times New Roman" panose="02020603050405020304" pitchFamily="18" charset="0"/>
              </a:rPr>
              <a:t>[2].Satapathy, S.K.; Jagadev, A.K.; Dehuri, S. Wei </a:t>
            </a:r>
            <a:r>
              <a:rPr lang="en-US" altLang="en-US" sz="2000" dirty="0" err="1">
                <a:latin typeface="Times New Roman" panose="02020603050405020304" pitchFamily="18" charset="0"/>
                <a:cs typeface="Times New Roman" panose="02020603050405020304" pitchFamily="18" charset="0"/>
              </a:rPr>
              <a:t>ghted</a:t>
            </a:r>
            <a:r>
              <a:rPr lang="en-US" altLang="en-US" sz="2000" dirty="0">
                <a:latin typeface="Times New Roman" panose="02020603050405020304" pitchFamily="18" charset="0"/>
                <a:cs typeface="Times New Roman" panose="02020603050405020304" pitchFamily="18" charset="0"/>
              </a:rPr>
              <a:t> majority voting based ensemble of classiﬁers using different machine learning techniques for classiﬁcation of EEG signal to detect epileptic seizure. Informatica 2017,41.</a:t>
            </a:r>
          </a:p>
          <a:p>
            <a:r>
              <a:rPr lang="en-US" altLang="en-US" sz="2000" dirty="0">
                <a:latin typeface="Times New Roman" panose="02020603050405020304" pitchFamily="18" charset="0"/>
                <a:cs typeface="Times New Roman" panose="02020603050405020304" pitchFamily="18" charset="0"/>
              </a:rPr>
              <a:t>[3].Manali, M.; Satija, U.; Upadhayay, M.D. Variational Mode Decomposition Based Mental Task Classification from Electroencephalogram. In Proceedings of the 2020 IEEE 17th India Council International Conference (INDICON), New Delhi, India, 10–13 December 2020; pp. 1–7.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9087"/>
            <a:ext cx="10515600" cy="1325563"/>
          </a:xfrm>
        </p:spPr>
        <p:txBody>
          <a:bodyPr>
            <a:normAutofit/>
          </a:bodyPr>
          <a:lstStyle/>
          <a:p>
            <a:pPr algn="ctr"/>
            <a:r>
              <a:rPr lang="en-US" sz="3500" b="1" dirty="0">
                <a:latin typeface="Times New Roman" panose="02020603050405020304" pitchFamily="18" charset="0"/>
                <a:cs typeface="Times New Roman" panose="02020603050405020304" pitchFamily="18" charset="0"/>
              </a:rPr>
              <a:t>GITHUB LINK</a:t>
            </a:r>
            <a:endParaRPr lang="en-IN" sz="35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7669" y="2255836"/>
            <a:ext cx="10515600" cy="4351338"/>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https://github.com/gundaganitejaswini05/Neural-Network-Based-Predictive-Modeling-for-Complex-Psychiatric-Disorders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23651" y="2133600"/>
            <a:ext cx="7344697" cy="1569660"/>
          </a:xfrm>
          <a:prstGeom prst="rect">
            <a:avLst/>
          </a:prstGeom>
          <a:noFill/>
        </p:spPr>
        <p:txBody>
          <a:bodyPr wrap="square" rtlCol="0">
            <a:spAutoFit/>
          </a:bodyPr>
          <a:lstStyle/>
          <a:p>
            <a:r>
              <a:rPr lang="en-IN" sz="9600" dirty="0">
                <a:latin typeface="Times New Roman" panose="02020603050405020304" pitchFamily="18" charset="0"/>
                <a:cs typeface="Times New Roman" panose="02020603050405020304" pitchFamily="18" charset="0"/>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1861</Words>
  <Application>Microsoft Office PowerPoint</Application>
  <PresentationFormat>Widescreen</PresentationFormat>
  <Paragraphs>168</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Times New Roman</vt:lpstr>
      <vt:lpstr>Times New Roman Bold</vt:lpstr>
      <vt:lpstr>Wingdings</vt:lpstr>
      <vt:lpstr>Office Theme</vt:lpstr>
      <vt:lpstr>PowerPoint Presentation</vt:lpstr>
      <vt:lpstr>PowerPoint Presentation</vt:lpstr>
      <vt:lpstr>PowerPoint Presentation</vt:lpstr>
      <vt:lpstr>  EXISTING SYSTEM</vt:lpstr>
      <vt:lpstr>     DISADVANTAGES OF EXISTING SYSTEM  </vt:lpstr>
      <vt:lpstr>PowerPoint Presentation</vt:lpstr>
      <vt:lpstr>PowerPoint Presentation</vt:lpstr>
      <vt:lpstr>SOFTWARE AND HARDWARE REQUIREMENTS</vt:lpstr>
      <vt:lpstr>NOVELTY OF THE PROJECT</vt:lpstr>
      <vt:lpstr>PowerPoint Presentation</vt:lpstr>
      <vt:lpstr>PowerPoint Presentation</vt:lpstr>
      <vt:lpstr>PowerPoint Presentation</vt:lpstr>
      <vt:lpstr>PowerPoint Presentation</vt:lpstr>
      <vt:lpstr>PowerPoint Presentation</vt:lpstr>
      <vt:lpstr>UML DIAGRAMS</vt:lpstr>
      <vt:lpstr>UML DIAGRAMS</vt:lpstr>
      <vt:lpstr>UML DIAGRAMS</vt:lpstr>
      <vt:lpstr>PowerPoint Presentation</vt:lpstr>
      <vt:lpstr>PowerPoint Presentation</vt:lpstr>
      <vt:lpstr>PowerPoint Presentation</vt:lpstr>
      <vt:lpstr>PowerPoint Presentation</vt:lpstr>
      <vt:lpstr>RESULTS</vt:lpstr>
      <vt:lpstr>RESULTS</vt:lpstr>
      <vt:lpstr>RESULTS</vt:lpstr>
      <vt:lpstr>RESULTS</vt:lpstr>
      <vt:lpstr>PowerPoint Presentation</vt:lpstr>
      <vt:lpstr>REFERENCES</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Adithya Reddy</dc:creator>
  <cp:lastModifiedBy>BAVITHA LALAPUDI</cp:lastModifiedBy>
  <cp:revision>25</cp:revision>
  <dcterms:created xsi:type="dcterms:W3CDTF">2025-03-19T05:04:00Z</dcterms:created>
  <dcterms:modified xsi:type="dcterms:W3CDTF">2026-03-24T05:50:39Z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515EB0BBAC4941488B47B932CAD2B526_13</vt:lpwstr>
  </property>
  <property fmtid="{D5CDD505-2E9C-101B-9397-08002B2CF9AE}" pid="3" name="KSOProductBuildVer">
    <vt:lpwstr>1033-12.2.0.23196</vt:lpwstr>
  </property>
</Properties>
</file>